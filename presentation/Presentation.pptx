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0" r:id="rId3"/>
    <p:sldId id="283" r:id="rId4"/>
    <p:sldId id="284" r:id="rId5"/>
    <p:sldId id="285" r:id="rId6"/>
    <p:sldId id="257" r:id="rId7"/>
    <p:sldId id="286" r:id="rId8"/>
    <p:sldId id="293" r:id="rId9"/>
    <p:sldId id="294" r:id="rId10"/>
    <p:sldId id="289" r:id="rId11"/>
    <p:sldId id="288" r:id="rId12"/>
    <p:sldId id="291" r:id="rId13"/>
    <p:sldId id="29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3374D542-6E3E-455F-9BFB-B45891911720}">
          <p14:sldIdLst>
            <p14:sldId id="256"/>
            <p14:sldId id="260"/>
            <p14:sldId id="283"/>
            <p14:sldId id="284"/>
            <p14:sldId id="285"/>
            <p14:sldId id="257"/>
            <p14:sldId id="286"/>
            <p14:sldId id="293"/>
            <p14:sldId id="294"/>
            <p14:sldId id="289"/>
            <p14:sldId id="288"/>
            <p14:sldId id="291"/>
            <p14:sldId id="292"/>
          </p14:sldIdLst>
        </p14:section>
        <p14:section name="Search for 3D Models" id="{6844172C-9703-4DC7-908A-C23538616A3C}">
          <p14:sldIdLst/>
        </p14:section>
        <p14:section name="Insert a 3D Model from a File" id="{66737F24-1C36-4DF4-A00F-927A3F1468AC}">
          <p14:sldIdLst/>
        </p14:section>
        <p14:section name="Position and Rotate Your 3D Model" id="{A08F0015-E7F5-4E26-BBAF-AEE4F9A16AD2}">
          <p14:sldIdLst/>
        </p14:section>
        <p14:section name="Animate Your 3D Model" id="{B62868DA-F525-4AC5-9E3E-39ECA0154BBD}">
          <p14:sldIdLst/>
        </p14:section>
        <p14:section name="Learn More" id="{62756D7E-964E-493A-83A1-13BC0B6B5E4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598"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C3FCC2-4E7A-4671-AA79-177CB194E449}" type="datetimeFigureOut">
              <a:rPr lang="en-US" smtClean="0"/>
              <a:t>8/4/2026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01C38D-F26D-4167-83EF-8774BC62D548}" type="slidenum">
              <a:rPr lang="en-US" smtClean="0"/>
              <a:t>‹#›</a:t>
            </a:fld>
            <a:endParaRPr lang="en-US"/>
          </a:p>
        </p:txBody>
      </p:sp>
    </p:spTree>
    <p:extLst>
      <p:ext uri="{BB962C8B-B14F-4D97-AF65-F5344CB8AC3E}">
        <p14:creationId xmlns:p14="http://schemas.microsoft.com/office/powerpoint/2010/main" val="3336050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238323-0ADF-4328-9564-AEB5DFD80DB6}"/>
              </a:ext>
            </a:extLst>
          </p:cNvPr>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EB776FAE-C8F8-44A1-8BC7-9EB948371459}"/>
              </a:ext>
            </a:extLst>
          </p:cNvPr>
          <p:cNvSpPr>
            <a:spLocks noGrp="1"/>
          </p:cNvSpPr>
          <p:nvPr>
            <p:ph type="ctrTitle"/>
          </p:nvPr>
        </p:nvSpPr>
        <p:spPr>
          <a:xfrm>
            <a:off x="1524000" y="1333500"/>
            <a:ext cx="9144000" cy="1790700"/>
          </a:xfrm>
        </p:spPr>
        <p:txBody>
          <a:bodyPr vert="horz" lIns="91440" tIns="0" rIns="91440" bIns="0" rtlCol="0" anchor="t" anchorCtr="0">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DA7900C6-1C2C-4612-8672-356C6DDFDCB1}"/>
              </a:ext>
            </a:extLst>
          </p:cNvPr>
          <p:cNvSpPr>
            <a:spLocks noGrp="1"/>
          </p:cNvSpPr>
          <p:nvPr>
            <p:ph type="subTitle" idx="1"/>
          </p:nvPr>
        </p:nvSpPr>
        <p:spPr>
          <a:xfrm>
            <a:off x="1524000" y="3128009"/>
            <a:ext cx="9144000" cy="1287675"/>
          </a:xfrm>
        </p:spPr>
        <p:txBody>
          <a:bodyPr vert="horz" lIns="91440" tIns="45720" rIns="91440" bIns="45720" rtlCol="0" anchor="t" anchorCtr="0">
            <a:noAutofit/>
          </a:bodyPr>
          <a:lstStyle>
            <a:lvl1pPr marL="0" indent="0">
              <a:buNone/>
              <a:defRPr lang="en-US" sz="2400" dirty="0">
                <a:solidFill>
                  <a:schemeClr val="bg1"/>
                </a:solidFill>
                <a:latin typeface="+mj-lt"/>
              </a:defRPr>
            </a:lvl1pPr>
          </a:lstStyle>
          <a:p>
            <a:pPr marL="228600" lvl="0" indent="-228600">
              <a:lnSpc>
                <a:spcPct val="150000"/>
              </a:lnSpc>
              <a:spcAft>
                <a:spcPts val="1200"/>
              </a:spcAft>
            </a:pPr>
            <a:r>
              <a:rPr lang="en-US"/>
              <a:t>Click to edit Master subtitle style</a:t>
            </a:r>
            <a:endParaRPr lang="en-US" dirty="0"/>
          </a:p>
        </p:txBody>
      </p:sp>
      <p:pic>
        <p:nvPicPr>
          <p:cNvPr id="8" name="Picture 7">
            <a:extLst>
              <a:ext uri="{FF2B5EF4-FFF2-40B4-BE49-F238E27FC236}">
                <a16:creationId xmlns:a16="http://schemas.microsoft.com/office/drawing/2014/main" id="{5274E620-B44E-41FF-8FA1-D955BD69C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342899" y="4546601"/>
            <a:ext cx="11715751" cy="2025650"/>
          </a:xfrm>
          <a:prstGeom prst="rect">
            <a:avLst/>
          </a:prstGeom>
        </p:spPr>
      </p:pic>
    </p:spTree>
    <p:extLst>
      <p:ext uri="{BB962C8B-B14F-4D97-AF65-F5344CB8AC3E}">
        <p14:creationId xmlns:p14="http://schemas.microsoft.com/office/powerpoint/2010/main" val="4221146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Click to edit Master text styles</a:t>
            </a:r>
          </a:p>
          <a:p>
            <a:pPr lvl="1"/>
            <a:r>
              <a:rPr lang="en-US"/>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10340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Click to edit Master text styles</a:t>
            </a:r>
          </a:p>
          <a:p>
            <a:pPr lvl="1"/>
            <a:r>
              <a:rPr lang="en-US"/>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0465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Click to 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4944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69782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4815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69032" y="4801396"/>
            <a:ext cx="11653936"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93501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6675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5FD28E-AEC9-43B8-86F4-9CD3C41D49D7}"/>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604434" y="448628"/>
            <a:ext cx="10983132" cy="747763"/>
          </a:xfrm>
          <a:prstGeom prst="rect">
            <a:avLst/>
          </a:prstGeom>
        </p:spPr>
        <p:txBody>
          <a:bodyPr vert="horz" lIns="91440" tIns="45720" rIns="91440" bIns="45720" rtlCol="0" anchor="ctr"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C85AE-A002-4BA3-8D90-3960ED0FF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4E560-77BF-4D1A-B6E7-CD55CE12B1B8}" type="datetimeFigureOut">
              <a:rPr lang="en-US" smtClean="0"/>
              <a:t>8/4/2026</a:t>
            </a:fld>
            <a:endParaRPr lang="en-US"/>
          </a:p>
        </p:txBody>
      </p:sp>
      <p:sp>
        <p:nvSpPr>
          <p:cNvPr id="5" name="Footer Placeholder 4">
            <a:extLst>
              <a:ext uri="{FF2B5EF4-FFF2-40B4-BE49-F238E27FC236}">
                <a16:creationId xmlns:a16="http://schemas.microsoft.com/office/drawing/2014/main" id="{02103AA5-C732-4ECB-88D6-DAA20E2C1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280433-CBB5-49C5-B032-5A800E5D0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9379A-16E2-4C4A-96D0-A52C442257E7}" type="slidenum">
              <a:rPr lang="en-US" smtClean="0"/>
              <a:t>‹#›</a:t>
            </a:fld>
            <a:endParaRPr lang="en-US"/>
          </a:p>
        </p:txBody>
      </p:sp>
      <p:cxnSp>
        <p:nvCxnSpPr>
          <p:cNvPr id="8" name="Straight Connector 7">
            <a:extLst>
              <a:ext uri="{FF2B5EF4-FFF2-40B4-BE49-F238E27FC236}">
                <a16:creationId xmlns:a16="http://schemas.microsoft.com/office/drawing/2014/main" id="{E32A06DA-7FF5-4DDE-94D0-63A83DB241E8}"/>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8514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3" r:id="rId3"/>
    <p:sldLayoutId id="2147483652" r:id="rId4"/>
    <p:sldLayoutId id="2147483660" r:id="rId5"/>
    <p:sldLayoutId id="2147483662" r:id="rId6"/>
    <p:sldLayoutId id="2147483661" r:id="rId7"/>
    <p:sldLayoutId id="2147483655" r:id="rId8"/>
  </p:sldLayoutIdLst>
  <p:txStyles>
    <p:titleStyle>
      <a:lvl1pPr algn="l" defTabSz="914400" rtl="0" eaLnBrk="1" latinLnBrk="0" hangingPunct="1">
        <a:lnSpc>
          <a:spcPct val="90000"/>
        </a:lnSpc>
        <a:spcBef>
          <a:spcPct val="0"/>
        </a:spcBef>
        <a:buNone/>
        <a:defRPr lang="en-US" sz="2800" kern="1200">
          <a:solidFill>
            <a:schemeClr val="bg2">
              <a:lumMod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F8D61-9318-4DC8-A868-2B1BFDD2B2C0}"/>
              </a:ext>
            </a:extLst>
          </p:cNvPr>
          <p:cNvSpPr>
            <a:spLocks noGrp="1"/>
          </p:cNvSpPr>
          <p:nvPr>
            <p:ph type="ctrTitle"/>
          </p:nvPr>
        </p:nvSpPr>
        <p:spPr>
          <a:xfrm>
            <a:off x="1524000" y="2533650"/>
            <a:ext cx="9144000" cy="1790700"/>
          </a:xfrm>
        </p:spPr>
        <p:txBody>
          <a:bodyPr/>
          <a:lstStyle/>
          <a:p>
            <a:pPr algn="ctr"/>
            <a:r>
              <a:rPr lang="en-US" sz="6000" b="1" dirty="0"/>
              <a:t>BrickView</a:t>
            </a:r>
            <a:r>
              <a:rPr lang="en-US" dirty="0"/>
              <a:t> </a:t>
            </a:r>
            <a:br>
              <a:rPr lang="en-US" dirty="0"/>
            </a:br>
            <a:r>
              <a:rPr lang="en-US" dirty="0"/>
              <a:t>Real Estate Analytics Platform</a:t>
            </a:r>
          </a:p>
        </p:txBody>
      </p:sp>
      <p:sp>
        <p:nvSpPr>
          <p:cNvPr id="3" name="TextBox 2">
            <a:extLst>
              <a:ext uri="{FF2B5EF4-FFF2-40B4-BE49-F238E27FC236}">
                <a16:creationId xmlns:a16="http://schemas.microsoft.com/office/drawing/2014/main" id="{2B1A0D45-C577-3587-626E-B69F19F299DE}"/>
              </a:ext>
            </a:extLst>
          </p:cNvPr>
          <p:cNvSpPr txBox="1"/>
          <p:nvPr/>
        </p:nvSpPr>
        <p:spPr>
          <a:xfrm>
            <a:off x="8563897" y="5555226"/>
            <a:ext cx="3018503" cy="914400"/>
          </a:xfrm>
          <a:prstGeom prst="rect">
            <a:avLst/>
          </a:prstGeom>
        </p:spPr>
        <p:txBody>
          <a:bodyPr vert="horz" wrap="none" lIns="91440" tIns="45720" rIns="91440" bIns="45720" rtlCol="0">
            <a:noAutofit/>
          </a:bodyPr>
          <a:lstStyle/>
          <a:p>
            <a:pPr marL="0" indent="0" algn="l">
              <a:lnSpc>
                <a:spcPts val="1800"/>
              </a:lnSpc>
              <a:spcAft>
                <a:spcPts val="600"/>
              </a:spcAft>
              <a:buNone/>
            </a:pPr>
            <a:r>
              <a:rPr lang="en-IN" sz="1400" dirty="0">
                <a:solidFill>
                  <a:schemeClr val="bg1"/>
                </a:solidFill>
                <a:latin typeface="Segoe UI" panose="020B0502040204020203" pitchFamily="34" charset="0"/>
                <a:cs typeface="Segoe UI" panose="020B0502040204020203" pitchFamily="34" charset="0"/>
              </a:rPr>
              <a:t>Developed by</a:t>
            </a:r>
            <a:br>
              <a:rPr lang="en-IN" sz="1400" dirty="0">
                <a:solidFill>
                  <a:schemeClr val="bg1"/>
                </a:solidFill>
                <a:latin typeface="Segoe UI" panose="020B0502040204020203" pitchFamily="34" charset="0"/>
                <a:cs typeface="Segoe UI" panose="020B0502040204020203" pitchFamily="34" charset="0"/>
              </a:rPr>
            </a:br>
            <a:r>
              <a:rPr lang="en-IN" sz="1400" dirty="0">
                <a:solidFill>
                  <a:schemeClr val="bg1"/>
                </a:solidFill>
                <a:latin typeface="Segoe UI" panose="020B0502040204020203" pitchFamily="34" charset="0"/>
                <a:cs typeface="Segoe UI" panose="020B0502040204020203" pitchFamily="34" charset="0"/>
              </a:rPr>
              <a:t>Shaik Rabbani</a:t>
            </a:r>
            <a:br>
              <a:rPr lang="en-IN" sz="1400" dirty="0">
                <a:solidFill>
                  <a:schemeClr val="bg1"/>
                </a:solidFill>
                <a:latin typeface="Segoe UI" panose="020B0502040204020203" pitchFamily="34" charset="0"/>
                <a:cs typeface="Segoe UI" panose="020B0502040204020203" pitchFamily="34" charset="0"/>
              </a:rPr>
            </a:br>
            <a:r>
              <a:rPr lang="en-IN" sz="1400" dirty="0">
                <a:solidFill>
                  <a:schemeClr val="bg1"/>
                </a:solidFill>
                <a:latin typeface="Segoe UI" panose="020B0502040204020203" pitchFamily="34" charset="0"/>
                <a:cs typeface="Segoe UI" panose="020B0502040204020203" pitchFamily="34" charset="0"/>
              </a:rPr>
              <a:t>GUVI AI/ML Bootcamp Project</a:t>
            </a:r>
          </a:p>
        </p:txBody>
      </p:sp>
    </p:spTree>
    <p:extLst>
      <p:ext uri="{BB962C8B-B14F-4D97-AF65-F5344CB8AC3E}">
        <p14:creationId xmlns:p14="http://schemas.microsoft.com/office/powerpoint/2010/main" val="2997580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EE622-B204-4BAA-A73B-2ED70B230E0F}"/>
              </a:ext>
            </a:extLst>
          </p:cNvPr>
          <p:cNvSpPr>
            <a:spLocks noGrp="1"/>
          </p:cNvSpPr>
          <p:nvPr>
            <p:ph type="title"/>
          </p:nvPr>
        </p:nvSpPr>
        <p:spPr/>
        <p:txBody>
          <a:bodyPr/>
          <a:lstStyle/>
          <a:p>
            <a:r>
              <a:rPr lang="en-US" dirty="0">
                <a:solidFill>
                  <a:srgbClr val="E7E6E6">
                    <a:lumMod val="25000"/>
                  </a:srgbClr>
                </a:solidFill>
                <a:latin typeface="Segoe UI Light" panose="020B0502040204020203" pitchFamily="34" charset="0"/>
                <a:cs typeface="Segoe UI Light" panose="020B0502040204020203" pitchFamily="34" charset="0"/>
              </a:rPr>
              <a:t>Self Introduction</a:t>
            </a:r>
            <a:endParaRPr lang="en-US" dirty="0"/>
          </a:p>
        </p:txBody>
      </p:sp>
      <p:sp>
        <p:nvSpPr>
          <p:cNvPr id="6" name="Content Placeholder 7" descr="PowerPoint allows you to import a variety of popular 3D model formats. &#10;So no matter your workflows outside of PowerPoint, you should be able to find a suitable solution to make your 3D models portable and presentable to virtually anyone, anywhere and on any device (with just a few quick modifications)">
            <a:extLst>
              <a:ext uri="{FF2B5EF4-FFF2-40B4-BE49-F238E27FC236}">
                <a16:creationId xmlns:a16="http://schemas.microsoft.com/office/drawing/2014/main" id="{9908A373-FC7C-4282-8736-3682F263411C}"/>
              </a:ext>
            </a:extLst>
          </p:cNvPr>
          <p:cNvSpPr txBox="1">
            <a:spLocks/>
          </p:cNvSpPr>
          <p:nvPr/>
        </p:nvSpPr>
        <p:spPr>
          <a:xfrm>
            <a:off x="533459" y="1485933"/>
            <a:ext cx="11054107" cy="19113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Aft>
                <a:spcPts val="600"/>
              </a:spcAft>
              <a:buNone/>
            </a:pPr>
            <a:r>
              <a:rPr lang="en-US" sz="1600" b="1">
                <a:solidFill>
                  <a:prstClr val="black">
                    <a:lumMod val="75000"/>
                    <a:lumOff val="25000"/>
                  </a:prstClr>
                </a:solidFill>
                <a:latin typeface="Segoe UI" panose="020B0502040204020203" pitchFamily="34" charset="0"/>
                <a:cs typeface="Segoe UI" panose="020B0502040204020203" pitchFamily="34" charset="0"/>
              </a:rPr>
              <a:t>Good evening, </a:t>
            </a:r>
            <a:r>
              <a:rPr lang="en-US" sz="1600" b="1" dirty="0">
                <a:solidFill>
                  <a:prstClr val="black">
                    <a:lumMod val="75000"/>
                    <a:lumOff val="25000"/>
                  </a:prstClr>
                </a:solidFill>
                <a:latin typeface="Segoe UI" panose="020B0502040204020203" pitchFamily="34" charset="0"/>
                <a:cs typeface="Segoe UI" panose="020B0502040204020203" pitchFamily="34" charset="0"/>
              </a:rPr>
              <a:t>everyone</a:t>
            </a:r>
          </a:p>
          <a:p>
            <a:pPr marL="0" indent="0">
              <a:lnSpc>
                <a:spcPct val="150000"/>
              </a:lnSpc>
              <a:buNone/>
            </a:pPr>
            <a:r>
              <a:rPr lang="en-IN" sz="1600" dirty="0"/>
              <a:t>My name is </a:t>
            </a:r>
            <a:r>
              <a:rPr lang="en-IN" sz="1600" b="1" dirty="0"/>
              <a:t>Shaik Rabbani</a:t>
            </a:r>
            <a:r>
              <a:rPr lang="en-IN" sz="1600" dirty="0"/>
              <a:t>. I am currently working as an </a:t>
            </a:r>
            <a:r>
              <a:rPr lang="en-IN" sz="1600" b="1" dirty="0"/>
              <a:t>Assistant Professor</a:t>
            </a:r>
            <a:r>
              <a:rPr lang="en-IN" sz="1600" dirty="0"/>
              <a:t> and have over </a:t>
            </a:r>
            <a:r>
              <a:rPr lang="en-IN" sz="1600" b="1" dirty="0"/>
              <a:t>13 years of experience in Software Development</a:t>
            </a:r>
            <a:r>
              <a:rPr lang="en-IN" sz="1600" dirty="0"/>
              <a:t>, primarily in Full Stack Development.</a:t>
            </a:r>
          </a:p>
          <a:p>
            <a:pPr marL="0" indent="0">
              <a:lnSpc>
                <a:spcPct val="150000"/>
              </a:lnSpc>
              <a:buNone/>
            </a:pPr>
            <a:r>
              <a:rPr lang="en-IN" sz="1600" dirty="0"/>
              <a:t>As part of the </a:t>
            </a:r>
            <a:r>
              <a:rPr lang="en-IN" sz="1600" b="1" dirty="0"/>
              <a:t>GUVI AI/ML Bootcamp</a:t>
            </a:r>
            <a:r>
              <a:rPr lang="en-IN" sz="1600" dirty="0"/>
              <a:t>, I developed </a:t>
            </a:r>
            <a:r>
              <a:rPr lang="en-IN" sz="1600" b="1" dirty="0" err="1"/>
              <a:t>BrickView</a:t>
            </a:r>
            <a:r>
              <a:rPr lang="en-IN" sz="1600" b="1" dirty="0"/>
              <a:t> – Real Estate Analytics Platform</a:t>
            </a:r>
            <a:r>
              <a:rPr lang="en-IN" sz="1600" dirty="0"/>
              <a:t>, which helps users </a:t>
            </a:r>
            <a:r>
              <a:rPr lang="en-IN" sz="1600" dirty="0" err="1"/>
              <a:t>analyze</a:t>
            </a:r>
            <a:r>
              <a:rPr lang="en-IN" sz="1600" dirty="0"/>
              <a:t> real estate data through interactive dashboards, SQL analytics, and data visualizations. </a:t>
            </a:r>
          </a:p>
        </p:txBody>
      </p:sp>
    </p:spTree>
    <p:extLst>
      <p:ext uri="{BB962C8B-B14F-4D97-AF65-F5344CB8AC3E}">
        <p14:creationId xmlns:p14="http://schemas.microsoft.com/office/powerpoint/2010/main" val="3665633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4DBF8-724C-065C-9C8A-04F81E997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790332-F166-74DC-26BB-6E8BFE624DF1}"/>
              </a:ext>
            </a:extLst>
          </p:cNvPr>
          <p:cNvSpPr>
            <a:spLocks noGrp="1"/>
          </p:cNvSpPr>
          <p:nvPr>
            <p:ph type="title"/>
          </p:nvPr>
        </p:nvSpPr>
        <p:spPr/>
        <p:txBody>
          <a:bodyPr/>
          <a:lstStyle/>
          <a:p>
            <a:r>
              <a:rPr lang="en-US" dirty="0">
                <a:solidFill>
                  <a:srgbClr val="E7E6E6">
                    <a:lumMod val="25000"/>
                  </a:srgbClr>
                </a:solidFill>
                <a:latin typeface="Segoe UI Light" panose="020B0502040204020203" pitchFamily="34" charset="0"/>
                <a:cs typeface="Segoe UI Light" panose="020B0502040204020203" pitchFamily="34" charset="0"/>
              </a:rPr>
              <a:t>Problem Statement</a:t>
            </a:r>
            <a:endParaRPr lang="en-US" dirty="0"/>
          </a:p>
        </p:txBody>
      </p:sp>
      <p:sp>
        <p:nvSpPr>
          <p:cNvPr id="6" name="Content Placeholder 7" descr="PowerPoint allows you to import a variety of popular 3D model formats. &#10;So no matter your workflows outside of PowerPoint, you should be able to find a suitable solution to make your 3D models portable and presentable to virtually anyone, anywhere and on any device (with just a few quick modifications)">
            <a:extLst>
              <a:ext uri="{FF2B5EF4-FFF2-40B4-BE49-F238E27FC236}">
                <a16:creationId xmlns:a16="http://schemas.microsoft.com/office/drawing/2014/main" id="{8686CF7C-D08A-B5DD-5AE0-83697E2C1E22}"/>
              </a:ext>
            </a:extLst>
          </p:cNvPr>
          <p:cNvSpPr txBox="1">
            <a:spLocks/>
          </p:cNvSpPr>
          <p:nvPr/>
        </p:nvSpPr>
        <p:spPr>
          <a:xfrm>
            <a:off x="533459" y="1485933"/>
            <a:ext cx="11054107" cy="19113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Aft>
                <a:spcPts val="600"/>
              </a:spcAft>
              <a:buNone/>
            </a:pPr>
            <a:r>
              <a:rPr lang="en-IN" sz="1600" dirty="0"/>
              <a:t>In the real estate industry, large amounts of property data are generated every day. As the volume of real estate data grows, manually </a:t>
            </a:r>
            <a:r>
              <a:rPr lang="en-IN" sz="1600" dirty="0" err="1"/>
              <a:t>analyzing</a:t>
            </a:r>
            <a:r>
              <a:rPr lang="en-IN" sz="1600" dirty="0"/>
              <a:t> property prices, sales trends, buyer </a:t>
            </a:r>
            <a:r>
              <a:rPr lang="en-IN" sz="1600" dirty="0" err="1"/>
              <a:t>behavior</a:t>
            </a:r>
            <a:r>
              <a:rPr lang="en-IN" sz="1600" dirty="0"/>
              <a:t>, and agent performance becomes time-consuming and inefficient.</a:t>
            </a:r>
          </a:p>
          <a:p>
            <a:pPr marL="0" indent="0">
              <a:lnSpc>
                <a:spcPct val="150000"/>
              </a:lnSpc>
              <a:spcAft>
                <a:spcPts val="600"/>
              </a:spcAft>
              <a:buNone/>
            </a:pPr>
            <a:r>
              <a:rPr lang="en-IN" sz="1600" dirty="0"/>
              <a:t>The main problem this project addresses is converting raw real estate data into meaningful insights through an easy-to-use dashboard.</a:t>
            </a:r>
          </a:p>
          <a:p>
            <a:pPr marL="0" indent="0">
              <a:lnSpc>
                <a:spcPct val="150000"/>
              </a:lnSpc>
              <a:spcAft>
                <a:spcPts val="600"/>
              </a:spcAft>
              <a:buNone/>
            </a:pPr>
            <a:endParaRPr lang="en-US" sz="1600" b="1" dirty="0">
              <a:solidFill>
                <a:prstClr val="black">
                  <a:lumMod val="75000"/>
                  <a:lumOff val="25000"/>
                </a:prst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326626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998AB-D85F-595C-4B0B-3240C3507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0EE072-5139-C382-4966-7F3E8F615064}"/>
              </a:ext>
            </a:extLst>
          </p:cNvPr>
          <p:cNvSpPr>
            <a:spLocks noGrp="1"/>
          </p:cNvSpPr>
          <p:nvPr>
            <p:ph type="title"/>
          </p:nvPr>
        </p:nvSpPr>
        <p:spPr/>
        <p:txBody>
          <a:bodyPr/>
          <a:lstStyle/>
          <a:p>
            <a:r>
              <a:rPr lang="en-US" dirty="0">
                <a:solidFill>
                  <a:srgbClr val="E7E6E6">
                    <a:lumMod val="25000"/>
                  </a:srgbClr>
                </a:solidFill>
                <a:latin typeface="Segoe UI Light" panose="020B0502040204020203" pitchFamily="34" charset="0"/>
                <a:cs typeface="Segoe UI Light" panose="020B0502040204020203" pitchFamily="34" charset="0"/>
              </a:rPr>
              <a:t>Project Objectives</a:t>
            </a:r>
            <a:endParaRPr lang="en-US" dirty="0"/>
          </a:p>
        </p:txBody>
      </p:sp>
      <p:sp>
        <p:nvSpPr>
          <p:cNvPr id="6" name="Content Placeholder 7" descr="PowerPoint allows you to import a variety of popular 3D model formats. &#10;So no matter your workflows outside of PowerPoint, you should be able to find a suitable solution to make your 3D models portable and presentable to virtually anyone, anywhere and on any device (with just a few quick modifications)">
            <a:extLst>
              <a:ext uri="{FF2B5EF4-FFF2-40B4-BE49-F238E27FC236}">
                <a16:creationId xmlns:a16="http://schemas.microsoft.com/office/drawing/2014/main" id="{0CEE4E29-D025-AD34-DD3C-126D40249AE4}"/>
              </a:ext>
            </a:extLst>
          </p:cNvPr>
          <p:cNvSpPr txBox="1">
            <a:spLocks/>
          </p:cNvSpPr>
          <p:nvPr/>
        </p:nvSpPr>
        <p:spPr>
          <a:xfrm>
            <a:off x="533459" y="1485932"/>
            <a:ext cx="11054107" cy="48362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Aft>
                <a:spcPts val="600"/>
              </a:spcAft>
              <a:buNone/>
            </a:pPr>
            <a:r>
              <a:rPr lang="en-IN" sz="1600" dirty="0"/>
              <a:t>The objectives of this project are:</a:t>
            </a:r>
          </a:p>
          <a:p>
            <a:pPr>
              <a:lnSpc>
                <a:spcPct val="100000"/>
              </a:lnSpc>
              <a:spcAft>
                <a:spcPts val="600"/>
              </a:spcAft>
            </a:pPr>
            <a:r>
              <a:rPr lang="en-IN" sz="1600" dirty="0" err="1"/>
              <a:t>Analyze</a:t>
            </a:r>
            <a:r>
              <a:rPr lang="en-IN" sz="1600" dirty="0"/>
              <a:t> real estate listings and sales data.</a:t>
            </a:r>
          </a:p>
          <a:p>
            <a:pPr>
              <a:lnSpc>
                <a:spcPct val="100000"/>
              </a:lnSpc>
              <a:spcAft>
                <a:spcPts val="600"/>
              </a:spcAft>
            </a:pPr>
            <a:r>
              <a:rPr lang="en-IN" sz="1600" dirty="0"/>
              <a:t>Build an interactive dashboard.</a:t>
            </a:r>
          </a:p>
          <a:p>
            <a:pPr>
              <a:lnSpc>
                <a:spcPct val="100000"/>
              </a:lnSpc>
              <a:spcAft>
                <a:spcPts val="600"/>
              </a:spcAft>
            </a:pPr>
            <a:r>
              <a:rPr lang="en-IN" sz="1600" dirty="0"/>
              <a:t>Perform business analysis using SQL.</a:t>
            </a:r>
          </a:p>
          <a:p>
            <a:pPr>
              <a:lnSpc>
                <a:spcPct val="100000"/>
              </a:lnSpc>
              <a:spcAft>
                <a:spcPts val="600"/>
              </a:spcAft>
            </a:pPr>
            <a:r>
              <a:rPr lang="en-IN" sz="1600" dirty="0"/>
              <a:t>Visualize trends through charts.</a:t>
            </a:r>
          </a:p>
          <a:p>
            <a:pPr>
              <a:lnSpc>
                <a:spcPct val="100000"/>
              </a:lnSpc>
              <a:spcAft>
                <a:spcPts val="600"/>
              </a:spcAft>
            </a:pPr>
            <a:r>
              <a:rPr lang="en-IN" sz="1600" dirty="0"/>
              <a:t>Implement CRUD operations for managing records.</a:t>
            </a:r>
          </a:p>
          <a:p>
            <a:pPr>
              <a:lnSpc>
                <a:spcPct val="100000"/>
              </a:lnSpc>
              <a:spcAft>
                <a:spcPts val="600"/>
              </a:spcAft>
            </a:pPr>
            <a:r>
              <a:rPr lang="en-IN" sz="1600" dirty="0"/>
              <a:t>Follow modular programming for better maintainability.</a:t>
            </a:r>
          </a:p>
          <a:p>
            <a:pPr marL="0" indent="0">
              <a:lnSpc>
                <a:spcPct val="150000"/>
              </a:lnSpc>
              <a:spcAft>
                <a:spcPts val="600"/>
              </a:spcAft>
              <a:buNone/>
            </a:pPr>
            <a:endParaRPr lang="en-US" sz="1600" b="1" dirty="0">
              <a:solidFill>
                <a:prstClr val="black">
                  <a:lumMod val="75000"/>
                  <a:lumOff val="25000"/>
                </a:prst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533694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C86A3-696A-DCEB-701E-D6338D4D33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B3D0BF-B98E-D37A-4CEA-B7D43303E3BB}"/>
              </a:ext>
            </a:extLst>
          </p:cNvPr>
          <p:cNvSpPr>
            <a:spLocks noGrp="1"/>
          </p:cNvSpPr>
          <p:nvPr>
            <p:ph type="title"/>
          </p:nvPr>
        </p:nvSpPr>
        <p:spPr/>
        <p:txBody>
          <a:bodyPr/>
          <a:lstStyle/>
          <a:p>
            <a:r>
              <a:rPr lang="en-US" dirty="0">
                <a:solidFill>
                  <a:srgbClr val="E7E6E6">
                    <a:lumMod val="25000"/>
                  </a:srgbClr>
                </a:solidFill>
                <a:latin typeface="Segoe UI Light" panose="020B0502040204020203" pitchFamily="34" charset="0"/>
                <a:cs typeface="Segoe UI Light" panose="020B0502040204020203" pitchFamily="34" charset="0"/>
              </a:rPr>
              <a:t>Technical Stack</a:t>
            </a:r>
            <a:endParaRPr lang="en-US" dirty="0"/>
          </a:p>
        </p:txBody>
      </p:sp>
      <p:sp>
        <p:nvSpPr>
          <p:cNvPr id="6" name="Content Placeholder 7" descr="PowerPoint allows you to import a variety of popular 3D model formats. &#10;So no matter your workflows outside of PowerPoint, you should be able to find a suitable solution to make your 3D models portable and presentable to virtually anyone, anywhere and on any device (with just a few quick modifications)">
            <a:extLst>
              <a:ext uri="{FF2B5EF4-FFF2-40B4-BE49-F238E27FC236}">
                <a16:creationId xmlns:a16="http://schemas.microsoft.com/office/drawing/2014/main" id="{B568B4DE-80A0-30F8-790E-34FCF18049B8}"/>
              </a:ext>
            </a:extLst>
          </p:cNvPr>
          <p:cNvSpPr txBox="1">
            <a:spLocks/>
          </p:cNvSpPr>
          <p:nvPr/>
        </p:nvSpPr>
        <p:spPr>
          <a:xfrm>
            <a:off x="533459" y="1485932"/>
            <a:ext cx="11054107" cy="48362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Aft>
                <a:spcPts val="600"/>
              </a:spcAft>
              <a:buNone/>
            </a:pPr>
            <a:endParaRPr lang="en-US" sz="1600" b="1" dirty="0">
              <a:solidFill>
                <a:prstClr val="black">
                  <a:lumMod val="75000"/>
                  <a:lumOff val="25000"/>
                </a:prstClr>
              </a:solidFill>
              <a:latin typeface="Segoe UI" panose="020B0502040204020203" pitchFamily="34" charset="0"/>
              <a:cs typeface="Segoe UI" panose="020B0502040204020203" pitchFamily="34" charset="0"/>
            </a:endParaRPr>
          </a:p>
        </p:txBody>
      </p:sp>
      <p:graphicFrame>
        <p:nvGraphicFramePr>
          <p:cNvPr id="3" name="Table 2">
            <a:extLst>
              <a:ext uri="{FF2B5EF4-FFF2-40B4-BE49-F238E27FC236}">
                <a16:creationId xmlns:a16="http://schemas.microsoft.com/office/drawing/2014/main" id="{17C357D2-F71A-FC7F-BF63-421D16F47E10}"/>
              </a:ext>
            </a:extLst>
          </p:cNvPr>
          <p:cNvGraphicFramePr>
            <a:graphicFrameLocks noGrp="1"/>
          </p:cNvGraphicFramePr>
          <p:nvPr>
            <p:extLst>
              <p:ext uri="{D42A27DB-BD31-4B8C-83A1-F6EECF244321}">
                <p14:modId xmlns:p14="http://schemas.microsoft.com/office/powerpoint/2010/main" val="1374964736"/>
              </p:ext>
            </p:extLst>
          </p:nvPr>
        </p:nvGraphicFramePr>
        <p:xfrm>
          <a:off x="604434" y="1761505"/>
          <a:ext cx="6514121" cy="3764224"/>
        </p:xfrm>
        <a:graphic>
          <a:graphicData uri="http://schemas.openxmlformats.org/drawingml/2006/table">
            <a:tbl>
              <a:tblPr/>
              <a:tblGrid>
                <a:gridCol w="2775369">
                  <a:extLst>
                    <a:ext uri="{9D8B030D-6E8A-4147-A177-3AD203B41FA5}">
                      <a16:colId xmlns:a16="http://schemas.microsoft.com/office/drawing/2014/main" val="3287304533"/>
                    </a:ext>
                  </a:extLst>
                </a:gridCol>
                <a:gridCol w="3738752">
                  <a:extLst>
                    <a:ext uri="{9D8B030D-6E8A-4147-A177-3AD203B41FA5}">
                      <a16:colId xmlns:a16="http://schemas.microsoft.com/office/drawing/2014/main" val="1683248068"/>
                    </a:ext>
                  </a:extLst>
                </a:gridCol>
              </a:tblGrid>
              <a:tr h="470528">
                <a:tc>
                  <a:txBody>
                    <a:bodyPr/>
                    <a:lstStyle/>
                    <a:p>
                      <a:pPr>
                        <a:buNone/>
                      </a:pPr>
                      <a:r>
                        <a:rPr lang="en-IN" sz="1600" b="1" dirty="0"/>
                        <a:t>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3171909"/>
                  </a:ext>
                </a:extLst>
              </a:tr>
              <a:tr h="470528">
                <a:tc>
                  <a:txBody>
                    <a:bodyPr/>
                    <a:lstStyle/>
                    <a:p>
                      <a:pPr>
                        <a:buNone/>
                      </a:pPr>
                      <a:r>
                        <a:rPr lang="en-IN" sz="1600" b="0" dirty="0"/>
                        <a:t>Python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dirty="0"/>
                        <a:t>Core programming language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4261660"/>
                  </a:ext>
                </a:extLst>
              </a:tr>
              <a:tr h="470528">
                <a:tc>
                  <a:txBody>
                    <a:bodyPr/>
                    <a:lstStyle/>
                    <a:p>
                      <a:pPr>
                        <a:buNone/>
                      </a:pPr>
                      <a:r>
                        <a:rPr lang="en-IN" sz="1600" b="0" dirty="0"/>
                        <a:t>Pandas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Data analysis and manipulation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62135865"/>
                  </a:ext>
                </a:extLst>
              </a:tr>
              <a:tr h="470528">
                <a:tc>
                  <a:txBody>
                    <a:bodyPr/>
                    <a:lstStyle/>
                    <a:p>
                      <a:pPr>
                        <a:buNone/>
                      </a:pPr>
                      <a:r>
                        <a:rPr lang="en-IN" sz="1600" b="0" dirty="0"/>
                        <a:t>SQLite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dirty="0"/>
                        <a:t>Database management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0136602"/>
                  </a:ext>
                </a:extLst>
              </a:tr>
              <a:tr h="470528">
                <a:tc>
                  <a:txBody>
                    <a:bodyPr/>
                    <a:lstStyle/>
                    <a:p>
                      <a:pPr>
                        <a:buNone/>
                      </a:pPr>
                      <a:r>
                        <a:rPr lang="en-IN" sz="1600" b="0" dirty="0"/>
                        <a:t>SQL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Data retrieval and analytics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4443265"/>
                  </a:ext>
                </a:extLst>
              </a:tr>
              <a:tr h="470528">
                <a:tc>
                  <a:txBody>
                    <a:bodyPr/>
                    <a:lstStyle/>
                    <a:p>
                      <a:pPr>
                        <a:buNone/>
                      </a:pPr>
                      <a:r>
                        <a:rPr lang="en-IN" sz="1600" b="0" dirty="0" err="1"/>
                        <a:t>Streamlit</a:t>
                      </a:r>
                      <a:endParaRPr lang="en-IN" sz="16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Dashboard development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3373503"/>
                  </a:ext>
                </a:extLst>
              </a:tr>
              <a:tr h="470528">
                <a:tc>
                  <a:txBody>
                    <a:bodyPr/>
                    <a:lstStyle/>
                    <a:p>
                      <a:pPr>
                        <a:buNone/>
                      </a:pPr>
                      <a:r>
                        <a:rPr lang="en-IN" sz="1600" b="0" dirty="0"/>
                        <a:t>Matplotlib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dirty="0"/>
                        <a:t>Data visualization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908749"/>
                  </a:ext>
                </a:extLst>
              </a:tr>
              <a:tr h="470528">
                <a:tc>
                  <a:txBody>
                    <a:bodyPr/>
                    <a:lstStyle/>
                    <a:p>
                      <a:pPr>
                        <a:buNone/>
                      </a:pPr>
                      <a:r>
                        <a:rPr lang="en-IN" sz="1600" b="0" dirty="0"/>
                        <a:t>HTML/CSS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dirty="0"/>
                        <a:t>UI customization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4306338"/>
                  </a:ext>
                </a:extLst>
              </a:tr>
            </a:tbl>
          </a:graphicData>
        </a:graphic>
      </p:graphicFrame>
    </p:spTree>
    <p:extLst>
      <p:ext uri="{BB962C8B-B14F-4D97-AF65-F5344CB8AC3E}">
        <p14:creationId xmlns:p14="http://schemas.microsoft.com/office/powerpoint/2010/main" val="1855972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1795B-A93A-416C-8052-FAF4D9073E67}"/>
              </a:ext>
            </a:extLst>
          </p:cNvPr>
          <p:cNvSpPr>
            <a:spLocks noGrp="1"/>
          </p:cNvSpPr>
          <p:nvPr>
            <p:ph type="title"/>
          </p:nvPr>
        </p:nvSpPr>
        <p:spPr/>
        <p:txBody>
          <a:bodyPr/>
          <a:lstStyle/>
          <a:p>
            <a:r>
              <a:rPr lang="en-US" dirty="0"/>
              <a:t>Project Structure</a:t>
            </a:r>
          </a:p>
        </p:txBody>
      </p:sp>
      <p:pic>
        <p:nvPicPr>
          <p:cNvPr id="36" name="Picture 35">
            <a:extLst>
              <a:ext uri="{FF2B5EF4-FFF2-40B4-BE49-F238E27FC236}">
                <a16:creationId xmlns:a16="http://schemas.microsoft.com/office/drawing/2014/main" id="{60A8C42F-E81D-64D9-24EB-67D4E191403A}"/>
              </a:ext>
            </a:extLst>
          </p:cNvPr>
          <p:cNvPicPr>
            <a:picLocks noChangeAspect="1"/>
          </p:cNvPicPr>
          <p:nvPr/>
        </p:nvPicPr>
        <p:blipFill>
          <a:blip r:embed="rId2"/>
          <a:stretch>
            <a:fillRect/>
          </a:stretch>
        </p:blipFill>
        <p:spPr>
          <a:xfrm>
            <a:off x="947967" y="1752366"/>
            <a:ext cx="3315163" cy="3353268"/>
          </a:xfrm>
          <a:prstGeom prst="rect">
            <a:avLst/>
          </a:prstGeom>
        </p:spPr>
      </p:pic>
      <p:sp>
        <p:nvSpPr>
          <p:cNvPr id="3" name="TextBox 2">
            <a:extLst>
              <a:ext uri="{FF2B5EF4-FFF2-40B4-BE49-F238E27FC236}">
                <a16:creationId xmlns:a16="http://schemas.microsoft.com/office/drawing/2014/main" id="{A0463206-1B79-C7AC-0C4E-15A0A5686C6C}"/>
              </a:ext>
            </a:extLst>
          </p:cNvPr>
          <p:cNvSpPr txBox="1"/>
          <p:nvPr/>
        </p:nvSpPr>
        <p:spPr>
          <a:xfrm>
            <a:off x="5132439" y="1752366"/>
            <a:ext cx="6455127" cy="3932903"/>
          </a:xfrm>
          <a:prstGeom prst="rect">
            <a:avLst/>
          </a:prstGeom>
        </p:spPr>
        <p:txBody>
          <a:bodyPr vert="horz" wrap="squar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0190F0CD-2C5C-B461-B1CA-F7C031FFB8D2}"/>
              </a:ext>
            </a:extLst>
          </p:cNvPr>
          <p:cNvSpPr txBox="1"/>
          <p:nvPr/>
        </p:nvSpPr>
        <p:spPr>
          <a:xfrm>
            <a:off x="5751871" y="1848464"/>
            <a:ext cx="5624052" cy="3257169"/>
          </a:xfrm>
          <a:prstGeom prst="rect">
            <a:avLst/>
          </a:prstGeom>
        </p:spPr>
        <p:txBody>
          <a:bodyPr vert="horz" wrap="none" lIns="91440" tIns="45720" rIns="91440" bIns="45720" rtlCol="0">
            <a:noAutofit/>
          </a:bodyPr>
          <a:lstStyle/>
          <a:p>
            <a:pPr marL="0" indent="0" algn="l">
              <a:lnSpc>
                <a:spcPts val="18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FAB06EBC-73C8-62BE-6F99-CB8198004D7A}"/>
              </a:ext>
            </a:extLst>
          </p:cNvPr>
          <p:cNvSpPr txBox="1"/>
          <p:nvPr/>
        </p:nvSpPr>
        <p:spPr>
          <a:xfrm>
            <a:off x="5751870" y="1848464"/>
            <a:ext cx="5835695" cy="3257169"/>
          </a:xfrm>
          <a:prstGeom prst="rect">
            <a:avLst/>
          </a:prstGeom>
        </p:spPr>
        <p:txBody>
          <a:bodyPr vert="horz" wrap="none" lIns="91440" tIns="45720" rIns="91440" bIns="45720" rtlCol="0">
            <a:noAutofit/>
          </a:bodyPr>
          <a:lstStyle/>
          <a:p>
            <a:pPr marL="171450" indent="-171450" algn="l">
              <a:lnSpc>
                <a:spcPct val="150000"/>
              </a:lnSpc>
              <a:spcAft>
                <a:spcPts val="600"/>
              </a:spcAft>
              <a:buFont typeface="Arial" panose="020B0604020202020204" pitchFamily="34" charset="0"/>
              <a:buChar char="•"/>
            </a:pPr>
            <a:r>
              <a:rPr lang="en-IN" sz="1600" dirty="0">
                <a:solidFill>
                  <a:prstClr val="black">
                    <a:lumMod val="75000"/>
                    <a:lumOff val="25000"/>
                  </a:prstClr>
                </a:solidFill>
                <a:latin typeface="Segoe UI" panose="020B0502040204020203" pitchFamily="34" charset="0"/>
                <a:cs typeface="Segoe UI" panose="020B0502040204020203" pitchFamily="34" charset="0"/>
              </a:rPr>
              <a:t>database.py =&gt; Database connection</a:t>
            </a:r>
          </a:p>
          <a:p>
            <a:pPr marL="171450" indent="-171450" algn="l">
              <a:lnSpc>
                <a:spcPct val="150000"/>
              </a:lnSpc>
              <a:spcAft>
                <a:spcPts val="600"/>
              </a:spcAft>
              <a:buFont typeface="Arial" panose="020B0604020202020204" pitchFamily="34" charset="0"/>
              <a:buChar char="•"/>
            </a:pPr>
            <a:r>
              <a:rPr lang="en-IN" sz="1600" dirty="0">
                <a:solidFill>
                  <a:prstClr val="black">
                    <a:lumMod val="75000"/>
                    <a:lumOff val="25000"/>
                  </a:prstClr>
                </a:solidFill>
                <a:latin typeface="Segoe UI" panose="020B0502040204020203" pitchFamily="34" charset="0"/>
                <a:cs typeface="Segoe UI" panose="020B0502040204020203" pitchFamily="34" charset="0"/>
              </a:rPr>
              <a:t>dashboard.py =&gt; Dashboard interface</a:t>
            </a:r>
          </a:p>
          <a:p>
            <a:pPr marL="171450" indent="-171450" algn="l">
              <a:lnSpc>
                <a:spcPct val="150000"/>
              </a:lnSpc>
              <a:spcAft>
                <a:spcPts val="600"/>
              </a:spcAft>
              <a:buFont typeface="Arial" panose="020B0604020202020204" pitchFamily="34" charset="0"/>
              <a:buChar char="•"/>
            </a:pPr>
            <a:r>
              <a:rPr lang="en-IN" sz="1600" dirty="0">
                <a:solidFill>
                  <a:prstClr val="black">
                    <a:lumMod val="75000"/>
                    <a:lumOff val="25000"/>
                  </a:prstClr>
                </a:solidFill>
                <a:latin typeface="Segoe UI" panose="020B0502040204020203" pitchFamily="34" charset="0"/>
                <a:cs typeface="Segoe UI" panose="020B0502040204020203" pitchFamily="34" charset="0"/>
              </a:rPr>
              <a:t>filters.py =&gt; Filtering logic</a:t>
            </a:r>
          </a:p>
          <a:p>
            <a:pPr marL="171450" indent="-171450" algn="l">
              <a:lnSpc>
                <a:spcPct val="150000"/>
              </a:lnSpc>
              <a:spcAft>
                <a:spcPts val="600"/>
              </a:spcAft>
              <a:buFont typeface="Arial" panose="020B0604020202020204" pitchFamily="34" charset="0"/>
              <a:buChar char="•"/>
            </a:pPr>
            <a:r>
              <a:rPr lang="en-IN" sz="1600" dirty="0">
                <a:solidFill>
                  <a:prstClr val="black">
                    <a:lumMod val="75000"/>
                    <a:lumOff val="25000"/>
                  </a:prstClr>
                </a:solidFill>
                <a:latin typeface="Segoe UI" panose="020B0502040204020203" pitchFamily="34" charset="0"/>
                <a:cs typeface="Segoe UI" panose="020B0502040204020203" pitchFamily="34" charset="0"/>
              </a:rPr>
              <a:t>visualizations.py =&gt; Charts</a:t>
            </a:r>
          </a:p>
          <a:p>
            <a:pPr marL="171450" indent="-171450" algn="l">
              <a:lnSpc>
                <a:spcPct val="150000"/>
              </a:lnSpc>
              <a:spcAft>
                <a:spcPts val="600"/>
              </a:spcAft>
              <a:buFont typeface="Arial" panose="020B0604020202020204" pitchFamily="34" charset="0"/>
              <a:buChar char="•"/>
            </a:pPr>
            <a:r>
              <a:rPr lang="en-IN" sz="1600" dirty="0">
                <a:solidFill>
                  <a:prstClr val="black">
                    <a:lumMod val="75000"/>
                    <a:lumOff val="25000"/>
                  </a:prstClr>
                </a:solidFill>
                <a:latin typeface="Segoe UI" panose="020B0502040204020203" pitchFamily="34" charset="0"/>
                <a:cs typeface="Segoe UI" panose="020B0502040204020203" pitchFamily="34" charset="0"/>
              </a:rPr>
              <a:t>crud.py =&gt; CRUD Operations</a:t>
            </a:r>
          </a:p>
          <a:p>
            <a:pPr marL="171450" indent="-171450" algn="l">
              <a:lnSpc>
                <a:spcPct val="150000"/>
              </a:lnSpc>
              <a:spcAft>
                <a:spcPts val="600"/>
              </a:spcAft>
              <a:buFont typeface="Arial" panose="020B0604020202020204" pitchFamily="34" charset="0"/>
              <a:buChar char="•"/>
            </a:pPr>
            <a:r>
              <a:rPr lang="en-IN" sz="1600" dirty="0">
                <a:solidFill>
                  <a:prstClr val="black">
                    <a:lumMod val="75000"/>
                    <a:lumOff val="25000"/>
                  </a:prstClr>
                </a:solidFill>
                <a:latin typeface="Segoe UI" panose="020B0502040204020203" pitchFamily="34" charset="0"/>
                <a:cs typeface="Segoe UI" panose="020B0502040204020203" pitchFamily="34" charset="0"/>
              </a:rPr>
              <a:t>sql_queries.py =&gt; Business SQL Queries</a:t>
            </a:r>
          </a:p>
          <a:p>
            <a:pPr marL="171450" indent="-171450" algn="l">
              <a:lnSpc>
                <a:spcPct val="150000"/>
              </a:lnSpc>
              <a:spcAft>
                <a:spcPts val="600"/>
              </a:spcAft>
              <a:buFont typeface="Arial" panose="020B0604020202020204" pitchFamily="34" charset="0"/>
              <a:buChar char="•"/>
            </a:pPr>
            <a:r>
              <a:rPr lang="en-IN" sz="1600" dirty="0">
                <a:solidFill>
                  <a:prstClr val="black">
                    <a:lumMod val="75000"/>
                    <a:lumOff val="25000"/>
                  </a:prstClr>
                </a:solidFill>
                <a:latin typeface="Segoe UI" panose="020B0502040204020203" pitchFamily="34" charset="0"/>
                <a:cs typeface="Segoe UI" panose="020B0502040204020203" pitchFamily="34" charset="0"/>
              </a:rPr>
              <a:t>utils.py/common.py =&gt; Reusable helper functions.</a:t>
            </a:r>
          </a:p>
          <a:p>
            <a:pPr marL="0" indent="0" algn="l">
              <a:lnSpc>
                <a:spcPct val="150000"/>
              </a:lnSpc>
              <a:spcAft>
                <a:spcPts val="600"/>
              </a:spcAft>
              <a:buNone/>
            </a:pPr>
            <a:endParaRPr lang="en-IN" sz="1200" dirty="0">
              <a:solidFill>
                <a:prstClr val="black">
                  <a:lumMod val="75000"/>
                  <a:lumOff val="25000"/>
                </a:prstClr>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855108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9BF8E-C0EC-E799-2C0E-D1F899B95D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34B319-A15F-C7E9-2C7A-AAD624BEFBBE}"/>
              </a:ext>
            </a:extLst>
          </p:cNvPr>
          <p:cNvSpPr>
            <a:spLocks noGrp="1"/>
          </p:cNvSpPr>
          <p:nvPr>
            <p:ph type="title"/>
          </p:nvPr>
        </p:nvSpPr>
        <p:spPr/>
        <p:txBody>
          <a:bodyPr/>
          <a:lstStyle/>
          <a:p>
            <a:r>
              <a:rPr lang="en-US" dirty="0">
                <a:solidFill>
                  <a:srgbClr val="E7E6E6">
                    <a:lumMod val="25000"/>
                  </a:srgbClr>
                </a:solidFill>
                <a:latin typeface="Segoe UI Light" panose="020B0502040204020203" pitchFamily="34" charset="0"/>
                <a:cs typeface="Segoe UI Light" panose="020B0502040204020203" pitchFamily="34" charset="0"/>
              </a:rPr>
              <a:t>Database</a:t>
            </a:r>
            <a:endParaRPr lang="en-US" dirty="0"/>
          </a:p>
        </p:txBody>
      </p:sp>
      <p:sp>
        <p:nvSpPr>
          <p:cNvPr id="6" name="Content Placeholder 7" descr="PowerPoint allows you to import a variety of popular 3D model formats. &#10;So no matter your workflows outside of PowerPoint, you should be able to find a suitable solution to make your 3D models portable and presentable to virtually anyone, anywhere and on any device (with just a few quick modifications)">
            <a:extLst>
              <a:ext uri="{FF2B5EF4-FFF2-40B4-BE49-F238E27FC236}">
                <a16:creationId xmlns:a16="http://schemas.microsoft.com/office/drawing/2014/main" id="{489A2175-CBEB-1AE0-0E06-632AF63209F8}"/>
              </a:ext>
            </a:extLst>
          </p:cNvPr>
          <p:cNvSpPr txBox="1">
            <a:spLocks/>
          </p:cNvSpPr>
          <p:nvPr/>
        </p:nvSpPr>
        <p:spPr>
          <a:xfrm>
            <a:off x="533459" y="1485932"/>
            <a:ext cx="11054107" cy="48362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Aft>
                <a:spcPts val="600"/>
              </a:spcAft>
              <a:buNone/>
            </a:pPr>
            <a:endParaRPr lang="en-IN" sz="1600" dirty="0"/>
          </a:p>
        </p:txBody>
      </p:sp>
      <p:graphicFrame>
        <p:nvGraphicFramePr>
          <p:cNvPr id="3" name="Table 2">
            <a:extLst>
              <a:ext uri="{FF2B5EF4-FFF2-40B4-BE49-F238E27FC236}">
                <a16:creationId xmlns:a16="http://schemas.microsoft.com/office/drawing/2014/main" id="{C4E71CA4-E210-827E-BEFB-330FA5D64FBF}"/>
              </a:ext>
            </a:extLst>
          </p:cNvPr>
          <p:cNvGraphicFramePr>
            <a:graphicFrameLocks noGrp="1"/>
          </p:cNvGraphicFramePr>
          <p:nvPr>
            <p:extLst>
              <p:ext uri="{D42A27DB-BD31-4B8C-83A1-F6EECF244321}">
                <p14:modId xmlns:p14="http://schemas.microsoft.com/office/powerpoint/2010/main" val="1975548109"/>
              </p:ext>
            </p:extLst>
          </p:nvPr>
        </p:nvGraphicFramePr>
        <p:xfrm>
          <a:off x="812544" y="1822465"/>
          <a:ext cx="7181082" cy="2011680"/>
        </p:xfrm>
        <a:graphic>
          <a:graphicData uri="http://schemas.openxmlformats.org/drawingml/2006/table">
            <a:tbl>
              <a:tblPr/>
              <a:tblGrid>
                <a:gridCol w="2609082">
                  <a:extLst>
                    <a:ext uri="{9D8B030D-6E8A-4147-A177-3AD203B41FA5}">
                      <a16:colId xmlns:a16="http://schemas.microsoft.com/office/drawing/2014/main" val="266672890"/>
                    </a:ext>
                  </a:extLst>
                </a:gridCol>
                <a:gridCol w="4572000">
                  <a:extLst>
                    <a:ext uri="{9D8B030D-6E8A-4147-A177-3AD203B41FA5}">
                      <a16:colId xmlns:a16="http://schemas.microsoft.com/office/drawing/2014/main" val="177095416"/>
                    </a:ext>
                  </a:extLst>
                </a:gridCol>
              </a:tblGrid>
              <a:tr h="0">
                <a:tc>
                  <a:txBody>
                    <a:bodyPr/>
                    <a:lstStyle/>
                    <a:p>
                      <a:pPr>
                        <a:buNone/>
                      </a:pPr>
                      <a:r>
                        <a:rPr lang="en-IN" sz="1600" b="1" dirty="0"/>
                        <a:t>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8658977"/>
                  </a:ext>
                </a:extLst>
              </a:tr>
              <a:tr h="0">
                <a:tc>
                  <a:txBody>
                    <a:bodyPr/>
                    <a:lstStyle/>
                    <a:p>
                      <a:pPr>
                        <a:buNone/>
                      </a:pPr>
                      <a:r>
                        <a:rPr lang="en-IN" sz="1600" dirty="0"/>
                        <a:t>Listings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Stores property 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4797213"/>
                  </a:ext>
                </a:extLst>
              </a:tr>
              <a:tr h="0">
                <a:tc>
                  <a:txBody>
                    <a:bodyPr/>
                    <a:lstStyle/>
                    <a:p>
                      <a:pPr>
                        <a:buNone/>
                      </a:pPr>
                      <a:r>
                        <a:rPr lang="en-IN" sz="1600" dirty="0"/>
                        <a:t>Buyers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Stores buyer information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8464303"/>
                  </a:ext>
                </a:extLst>
              </a:tr>
              <a:tr h="0">
                <a:tc>
                  <a:txBody>
                    <a:bodyPr/>
                    <a:lstStyle/>
                    <a:p>
                      <a:pPr>
                        <a:buNone/>
                      </a:pPr>
                      <a:r>
                        <a:rPr lang="en-IN" sz="1600" dirty="0"/>
                        <a:t>Sales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Stores completed sales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1926917"/>
                  </a:ext>
                </a:extLst>
              </a:tr>
              <a:tr h="0">
                <a:tc>
                  <a:txBody>
                    <a:bodyPr/>
                    <a:lstStyle/>
                    <a:p>
                      <a:pPr>
                        <a:buNone/>
                      </a:pPr>
                      <a:r>
                        <a:rPr lang="en-IN" sz="1600" dirty="0"/>
                        <a:t>Agents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Stores agent 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8920398"/>
                  </a:ext>
                </a:extLst>
              </a:tr>
              <a:tr h="0">
                <a:tc>
                  <a:txBody>
                    <a:bodyPr/>
                    <a:lstStyle/>
                    <a:p>
                      <a:pPr>
                        <a:buNone/>
                      </a:pPr>
                      <a:r>
                        <a:rPr lang="en-IN" sz="1600" dirty="0"/>
                        <a:t>Property Attributes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Stores additional property information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8756349"/>
                  </a:ext>
                </a:extLst>
              </a:tr>
            </a:tbl>
          </a:graphicData>
        </a:graphic>
      </p:graphicFrame>
    </p:spTree>
    <p:extLst>
      <p:ext uri="{BB962C8B-B14F-4D97-AF65-F5344CB8AC3E}">
        <p14:creationId xmlns:p14="http://schemas.microsoft.com/office/powerpoint/2010/main" val="3778685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0DA053-1829-DEB7-D641-56B8996AD78E}"/>
              </a:ext>
            </a:extLst>
          </p:cNvPr>
          <p:cNvSpPr>
            <a:spLocks noGrp="1"/>
          </p:cNvSpPr>
          <p:nvPr>
            <p:ph idx="1"/>
          </p:nvPr>
        </p:nvSpPr>
        <p:spPr>
          <a:xfrm>
            <a:off x="688009" y="2184535"/>
            <a:ext cx="6017591" cy="3992429"/>
          </a:xfrm>
        </p:spPr>
        <p:txBody>
          <a:bodyPr>
            <a:normAutofit fontScale="25000" lnSpcReduction="20000"/>
          </a:bodyPr>
          <a:lstStyle/>
          <a:p>
            <a:pPr>
              <a:buNone/>
            </a:pPr>
            <a:endParaRPr lang="en-IN" dirty="0"/>
          </a:p>
          <a:p>
            <a:pPr>
              <a:buNone/>
            </a:pPr>
            <a:endParaRPr lang="en-IN" dirty="0"/>
          </a:p>
          <a:p>
            <a:pPr>
              <a:buNone/>
            </a:pPr>
            <a:r>
              <a:rPr lang="en-IN" sz="5600" dirty="0"/>
              <a:t>At the top of the dashboard, I have displayed five important Key Performance Indicators (KPIs):</a:t>
            </a:r>
          </a:p>
          <a:p>
            <a:pPr lvl="0">
              <a:lnSpc>
                <a:spcPct val="110000"/>
              </a:lnSpc>
            </a:pPr>
            <a:r>
              <a:rPr lang="en-IN" sz="5600" b="1" dirty="0"/>
              <a:t>Total Listings</a:t>
            </a:r>
            <a:r>
              <a:rPr lang="en-IN" sz="5600" dirty="0"/>
              <a:t> – Shows the total number of properties available in the system. </a:t>
            </a:r>
          </a:p>
          <a:p>
            <a:pPr lvl="0">
              <a:lnSpc>
                <a:spcPct val="110000"/>
              </a:lnSpc>
            </a:pPr>
            <a:r>
              <a:rPr lang="en-IN" sz="5600" b="1" dirty="0"/>
              <a:t>Total Sales</a:t>
            </a:r>
            <a:r>
              <a:rPr lang="en-IN" sz="5600" dirty="0"/>
              <a:t> – Displays the total number of properties that have been sold. </a:t>
            </a:r>
          </a:p>
          <a:p>
            <a:pPr lvl="0">
              <a:lnSpc>
                <a:spcPct val="110000"/>
              </a:lnSpc>
            </a:pPr>
            <a:r>
              <a:rPr lang="en-IN" sz="5600" b="1" dirty="0"/>
              <a:t>Total Buyers</a:t>
            </a:r>
            <a:r>
              <a:rPr lang="en-IN" sz="5600" dirty="0"/>
              <a:t> – Indicates the total number of registered buyers. </a:t>
            </a:r>
          </a:p>
          <a:p>
            <a:pPr lvl="0">
              <a:lnSpc>
                <a:spcPct val="110000"/>
              </a:lnSpc>
            </a:pPr>
            <a:r>
              <a:rPr lang="en-IN" sz="5600" b="1" dirty="0"/>
              <a:t>Total Agents</a:t>
            </a:r>
            <a:r>
              <a:rPr lang="en-IN" sz="5600" dirty="0"/>
              <a:t> – Shows the number of real estate agents managing the properties. </a:t>
            </a:r>
          </a:p>
          <a:p>
            <a:pPr lvl="0">
              <a:lnSpc>
                <a:spcPct val="110000"/>
              </a:lnSpc>
            </a:pPr>
            <a:r>
              <a:rPr lang="en-IN" sz="5600" b="1" dirty="0"/>
              <a:t>Total Revenue</a:t>
            </a:r>
            <a:r>
              <a:rPr lang="en-IN" sz="5600" dirty="0"/>
              <a:t> – Displays the overall revenue generated from property sales.</a:t>
            </a:r>
          </a:p>
          <a:p>
            <a:pPr>
              <a:buNone/>
            </a:pPr>
            <a:endParaRPr lang="en-IN" dirty="0"/>
          </a:p>
          <a:p>
            <a:pPr>
              <a:buNone/>
            </a:pPr>
            <a:endParaRPr lang="en-IN" dirty="0"/>
          </a:p>
          <a:p>
            <a:endParaRPr lang="en-IN" dirty="0"/>
          </a:p>
        </p:txBody>
      </p:sp>
      <p:pic>
        <p:nvPicPr>
          <p:cNvPr id="8" name="Content Placeholder 7">
            <a:extLst>
              <a:ext uri="{FF2B5EF4-FFF2-40B4-BE49-F238E27FC236}">
                <a16:creationId xmlns:a16="http://schemas.microsoft.com/office/drawing/2014/main" id="{63D99886-A1DF-1029-C631-8E4C60446465}"/>
              </a:ext>
            </a:extLst>
          </p:cNvPr>
          <p:cNvPicPr>
            <a:picLocks noGrp="1" noChangeAspect="1"/>
          </p:cNvPicPr>
          <p:nvPr>
            <p:ph idx="13"/>
          </p:nvPr>
        </p:nvPicPr>
        <p:blipFill>
          <a:blip r:embed="rId2"/>
          <a:stretch>
            <a:fillRect/>
          </a:stretch>
        </p:blipFill>
        <p:spPr>
          <a:xfrm>
            <a:off x="6853084" y="2424916"/>
            <a:ext cx="4686454" cy="3169373"/>
          </a:xfrm>
          <a:prstGeom prst="rect">
            <a:avLst/>
          </a:prstGeom>
        </p:spPr>
      </p:pic>
      <p:sp>
        <p:nvSpPr>
          <p:cNvPr id="4" name="Title 3">
            <a:extLst>
              <a:ext uri="{FF2B5EF4-FFF2-40B4-BE49-F238E27FC236}">
                <a16:creationId xmlns:a16="http://schemas.microsoft.com/office/drawing/2014/main" id="{67451F38-A20F-F653-150E-C081F4168ECA}"/>
              </a:ext>
            </a:extLst>
          </p:cNvPr>
          <p:cNvSpPr>
            <a:spLocks noGrp="1"/>
          </p:cNvSpPr>
          <p:nvPr>
            <p:ph type="title"/>
          </p:nvPr>
        </p:nvSpPr>
        <p:spPr/>
        <p:txBody>
          <a:bodyPr/>
          <a:lstStyle/>
          <a:p>
            <a:r>
              <a:rPr lang="en-US" dirty="0">
                <a:solidFill>
                  <a:srgbClr val="E7E6E6">
                    <a:lumMod val="25000"/>
                  </a:srgbClr>
                </a:solidFill>
                <a:latin typeface="Segoe UI Light" panose="020B0502040204020203" pitchFamily="34" charset="0"/>
                <a:cs typeface="Segoe UI Light" panose="020B0502040204020203" pitchFamily="34" charset="0"/>
              </a:rPr>
              <a:t>Dashboard</a:t>
            </a:r>
            <a:endParaRPr lang="en-IN" dirty="0"/>
          </a:p>
        </p:txBody>
      </p:sp>
      <p:sp>
        <p:nvSpPr>
          <p:cNvPr id="6" name="Title 3">
            <a:extLst>
              <a:ext uri="{FF2B5EF4-FFF2-40B4-BE49-F238E27FC236}">
                <a16:creationId xmlns:a16="http://schemas.microsoft.com/office/drawing/2014/main" id="{FFBA73FA-38A8-3137-3908-EB6B9664F7F2}"/>
              </a:ext>
            </a:extLst>
          </p:cNvPr>
          <p:cNvSpPr txBox="1">
            <a:spLocks/>
          </p:cNvSpPr>
          <p:nvPr/>
        </p:nvSpPr>
        <p:spPr>
          <a:xfrm>
            <a:off x="688010" y="1436772"/>
            <a:ext cx="10983132" cy="747763"/>
          </a:xfrm>
          <a:prstGeom prst="rect">
            <a:avLst/>
          </a:prstGeom>
        </p:spPr>
        <p:txBody>
          <a:bodyPr vert="horz" lIns="91440" tIns="45720" rIns="91440" bIns="45720" rtlCol="0" anchor="ctr" anchorCtr="0">
            <a:normAutofit fontScale="55000" lnSpcReduction="20000"/>
          </a:bodyPr>
          <a:lstStyle>
            <a:lvl1pPr algn="l" defTabSz="914400" rtl="0" eaLnBrk="1" latinLnBrk="0" hangingPunct="1">
              <a:lnSpc>
                <a:spcPct val="90000"/>
              </a:lnSpc>
              <a:spcBef>
                <a:spcPct val="0"/>
              </a:spcBef>
              <a:buNone/>
              <a:defRPr lang="en-US" sz="2800" kern="1200">
                <a:solidFill>
                  <a:schemeClr val="bg2">
                    <a:lumMod val="25000"/>
                  </a:schemeClr>
                </a:solidFill>
                <a:latin typeface="+mj-lt"/>
                <a:ea typeface="+mj-ea"/>
                <a:cs typeface="+mj-cs"/>
              </a:defRPr>
            </a:lvl1pPr>
          </a:lstStyle>
          <a:p>
            <a:pPr>
              <a:lnSpc>
                <a:spcPct val="150000"/>
              </a:lnSpc>
            </a:pPr>
            <a:r>
              <a:rPr lang="en-IN" dirty="0">
                <a:latin typeface="+mn-lt"/>
              </a:rPr>
              <a:t>This is the main dashboard of the </a:t>
            </a:r>
            <a:r>
              <a:rPr lang="en-IN" b="1" dirty="0" err="1">
                <a:latin typeface="+mn-lt"/>
              </a:rPr>
              <a:t>BrickView</a:t>
            </a:r>
            <a:r>
              <a:rPr lang="en-IN" b="1" dirty="0">
                <a:latin typeface="+mn-lt"/>
              </a:rPr>
              <a:t> Real Estate Analytics Platform</a:t>
            </a:r>
            <a:r>
              <a:rPr lang="en-IN" dirty="0">
                <a:latin typeface="+mn-lt"/>
              </a:rPr>
              <a:t>. The dashboard is designed to provide users with a quick overview of the real estate data through Key Performance Indicators, interactive filters, and visualizations.</a:t>
            </a:r>
          </a:p>
        </p:txBody>
      </p:sp>
    </p:spTree>
    <p:extLst>
      <p:ext uri="{BB962C8B-B14F-4D97-AF65-F5344CB8AC3E}">
        <p14:creationId xmlns:p14="http://schemas.microsoft.com/office/powerpoint/2010/main" val="3478920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E1843-EC3D-4E18-5441-798E5D19F4D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4ECF0D-289E-A7C9-D571-256D6A820C21}"/>
              </a:ext>
            </a:extLst>
          </p:cNvPr>
          <p:cNvSpPr>
            <a:spLocks noGrp="1"/>
          </p:cNvSpPr>
          <p:nvPr>
            <p:ph idx="1"/>
          </p:nvPr>
        </p:nvSpPr>
        <p:spPr>
          <a:xfrm>
            <a:off x="688009" y="2184535"/>
            <a:ext cx="6332223" cy="3992429"/>
          </a:xfrm>
        </p:spPr>
        <p:txBody>
          <a:bodyPr>
            <a:noAutofit/>
          </a:bodyPr>
          <a:lstStyle/>
          <a:p>
            <a:pPr>
              <a:buNone/>
            </a:pPr>
            <a:endParaRPr lang="en-IN" sz="1000" dirty="0"/>
          </a:p>
          <a:p>
            <a:pPr>
              <a:buNone/>
            </a:pPr>
            <a:endParaRPr lang="en-IN" sz="1000" dirty="0"/>
          </a:p>
          <a:p>
            <a:pPr>
              <a:buNone/>
            </a:pPr>
            <a:br>
              <a:rPr lang="en-IN" sz="1400" dirty="0"/>
            </a:br>
            <a:r>
              <a:rPr lang="en-IN" sz="1400" dirty="0"/>
              <a:t>The available filters are:</a:t>
            </a:r>
            <a:br>
              <a:rPr lang="en-IN" sz="1400" dirty="0"/>
            </a:br>
            <a:r>
              <a:rPr lang="en-IN" sz="1400" b="1" dirty="0"/>
              <a:t>City</a:t>
            </a:r>
            <a:r>
              <a:rPr lang="en-IN" sz="1400" dirty="0"/>
              <a:t> – View properties from a specific city. </a:t>
            </a:r>
            <a:br>
              <a:rPr lang="en-IN" sz="1400" dirty="0"/>
            </a:br>
            <a:r>
              <a:rPr lang="en-IN" sz="1400" b="1" dirty="0"/>
              <a:t>Property Type</a:t>
            </a:r>
            <a:r>
              <a:rPr lang="en-IN" sz="1400" dirty="0"/>
              <a:t> – Filter properties such as apartments, villas, or commercial properties. </a:t>
            </a:r>
            <a:br>
              <a:rPr lang="en-IN" sz="1400" dirty="0"/>
            </a:br>
            <a:r>
              <a:rPr lang="en-IN" sz="1400" b="1" dirty="0"/>
              <a:t>Price Range</a:t>
            </a:r>
            <a:r>
              <a:rPr lang="en-IN" sz="1400" dirty="0"/>
              <a:t> – </a:t>
            </a:r>
            <a:r>
              <a:rPr lang="en-IN" sz="1400" dirty="0" err="1"/>
              <a:t>Analyze</a:t>
            </a:r>
            <a:r>
              <a:rPr lang="en-IN" sz="1400" dirty="0"/>
              <a:t> properties within a selected budget. </a:t>
            </a:r>
            <a:br>
              <a:rPr lang="en-IN" sz="1400" dirty="0"/>
            </a:br>
            <a:r>
              <a:rPr lang="en-IN" sz="1400" b="1" dirty="0"/>
              <a:t>Agent</a:t>
            </a:r>
            <a:r>
              <a:rPr lang="en-IN" sz="1400" dirty="0"/>
              <a:t> – Display properties managed by a particular real estate agent. </a:t>
            </a:r>
            <a:br>
              <a:rPr lang="en-IN" sz="1400" dirty="0"/>
            </a:br>
            <a:r>
              <a:rPr lang="en-IN" sz="1400" b="1" dirty="0"/>
              <a:t>Listed Date</a:t>
            </a:r>
            <a:r>
              <a:rPr lang="en-IN" sz="1400" dirty="0"/>
              <a:t> – Filter properties based on their listing date. </a:t>
            </a:r>
            <a:br>
              <a:rPr lang="en-IN" sz="1400" dirty="0"/>
            </a:br>
            <a:r>
              <a:rPr lang="en-IN" sz="1400" b="1" dirty="0"/>
              <a:t>Sale Date</a:t>
            </a:r>
            <a:r>
              <a:rPr lang="en-IN" sz="1400" dirty="0"/>
              <a:t> – </a:t>
            </a:r>
            <a:r>
              <a:rPr lang="en-IN" sz="1400" dirty="0" err="1"/>
              <a:t>Analyze</a:t>
            </a:r>
            <a:r>
              <a:rPr lang="en-IN" sz="1400" dirty="0"/>
              <a:t> properties sold during a selected time period. </a:t>
            </a:r>
            <a:br>
              <a:rPr lang="en-IN" sz="1400" dirty="0"/>
            </a:br>
            <a:r>
              <a:rPr lang="en-IN" sz="1400" dirty="0"/>
              <a:t>Whenever a filter is applied, the dashboard dynamically updates the displayed property listings and analytics, allowing users to perform focused data exploration</a:t>
            </a:r>
          </a:p>
          <a:p>
            <a:pPr>
              <a:buNone/>
            </a:pPr>
            <a:endParaRPr lang="en-IN" sz="1000" dirty="0"/>
          </a:p>
          <a:p>
            <a:pPr>
              <a:buNone/>
            </a:pPr>
            <a:endParaRPr lang="en-IN" sz="1000" dirty="0"/>
          </a:p>
          <a:p>
            <a:endParaRPr lang="en-IN" sz="1000" dirty="0"/>
          </a:p>
        </p:txBody>
      </p:sp>
      <p:sp>
        <p:nvSpPr>
          <p:cNvPr id="4" name="Title 3">
            <a:extLst>
              <a:ext uri="{FF2B5EF4-FFF2-40B4-BE49-F238E27FC236}">
                <a16:creationId xmlns:a16="http://schemas.microsoft.com/office/drawing/2014/main" id="{C92AE9BC-20D0-6F36-0182-469D27C95F44}"/>
              </a:ext>
            </a:extLst>
          </p:cNvPr>
          <p:cNvSpPr>
            <a:spLocks noGrp="1"/>
          </p:cNvSpPr>
          <p:nvPr>
            <p:ph type="title"/>
          </p:nvPr>
        </p:nvSpPr>
        <p:spPr/>
        <p:txBody>
          <a:bodyPr/>
          <a:lstStyle/>
          <a:p>
            <a:r>
              <a:rPr lang="en-US" dirty="0">
                <a:solidFill>
                  <a:srgbClr val="E7E6E6">
                    <a:lumMod val="25000"/>
                  </a:srgbClr>
                </a:solidFill>
                <a:latin typeface="Segoe UI Light" panose="020B0502040204020203" pitchFamily="34" charset="0"/>
                <a:cs typeface="Segoe UI Light" panose="020B0502040204020203" pitchFamily="34" charset="0"/>
              </a:rPr>
              <a:t>Filters &amp; Explorer</a:t>
            </a:r>
            <a:endParaRPr lang="en-IN" dirty="0"/>
          </a:p>
        </p:txBody>
      </p:sp>
      <p:sp>
        <p:nvSpPr>
          <p:cNvPr id="6" name="Title 3">
            <a:extLst>
              <a:ext uri="{FF2B5EF4-FFF2-40B4-BE49-F238E27FC236}">
                <a16:creationId xmlns:a16="http://schemas.microsoft.com/office/drawing/2014/main" id="{E3133F98-9342-5AB1-0BAB-B96A9CE99066}"/>
              </a:ext>
            </a:extLst>
          </p:cNvPr>
          <p:cNvSpPr txBox="1">
            <a:spLocks/>
          </p:cNvSpPr>
          <p:nvPr/>
        </p:nvSpPr>
        <p:spPr>
          <a:xfrm>
            <a:off x="688010" y="1436772"/>
            <a:ext cx="10983132" cy="747763"/>
          </a:xfrm>
          <a:prstGeom prst="rect">
            <a:avLst/>
          </a:prstGeom>
        </p:spPr>
        <p:txBody>
          <a:bodyPr vert="horz" lIns="91440" tIns="45720" rIns="91440" bIns="45720" rtlCol="0" anchor="ctr" anchorCtr="0">
            <a:normAutofit fontScale="55000" lnSpcReduction="20000"/>
          </a:bodyPr>
          <a:lstStyle>
            <a:lvl1pPr algn="l" defTabSz="914400" rtl="0" eaLnBrk="1" latinLnBrk="0" hangingPunct="1">
              <a:lnSpc>
                <a:spcPct val="90000"/>
              </a:lnSpc>
              <a:spcBef>
                <a:spcPct val="0"/>
              </a:spcBef>
              <a:buNone/>
              <a:defRPr lang="en-US" sz="2800" kern="1200">
                <a:solidFill>
                  <a:schemeClr val="bg2">
                    <a:lumMod val="25000"/>
                  </a:schemeClr>
                </a:solidFill>
                <a:latin typeface="+mj-lt"/>
                <a:ea typeface="+mj-ea"/>
                <a:cs typeface="+mj-cs"/>
              </a:defRPr>
            </a:lvl1pPr>
          </a:lstStyle>
          <a:p>
            <a:pPr>
              <a:lnSpc>
                <a:spcPct val="150000"/>
              </a:lnSpc>
            </a:pPr>
            <a:r>
              <a:rPr lang="en-IN" dirty="0"/>
              <a:t>To make the dashboard interactive, I implemented several filters that allow users to explore the data according to their requirements.</a:t>
            </a:r>
          </a:p>
        </p:txBody>
      </p:sp>
      <p:pic>
        <p:nvPicPr>
          <p:cNvPr id="13" name="Content Placeholder 12">
            <a:extLst>
              <a:ext uri="{FF2B5EF4-FFF2-40B4-BE49-F238E27FC236}">
                <a16:creationId xmlns:a16="http://schemas.microsoft.com/office/drawing/2014/main" id="{D5DD5AAA-2E8A-96EB-1D31-F01A91B7C7E4}"/>
              </a:ext>
            </a:extLst>
          </p:cNvPr>
          <p:cNvPicPr>
            <a:picLocks noGrp="1" noChangeAspect="1"/>
          </p:cNvPicPr>
          <p:nvPr>
            <p:ph idx="13"/>
          </p:nvPr>
        </p:nvPicPr>
        <p:blipFill>
          <a:blip r:embed="rId2"/>
          <a:stretch>
            <a:fillRect/>
          </a:stretch>
        </p:blipFill>
        <p:spPr>
          <a:xfrm>
            <a:off x="7138219" y="2671931"/>
            <a:ext cx="4768646" cy="3011113"/>
          </a:xfrm>
          <a:prstGeom prst="rect">
            <a:avLst/>
          </a:prstGeom>
        </p:spPr>
      </p:pic>
    </p:spTree>
    <p:extLst>
      <p:ext uri="{BB962C8B-B14F-4D97-AF65-F5344CB8AC3E}">
        <p14:creationId xmlns:p14="http://schemas.microsoft.com/office/powerpoint/2010/main" val="4192124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7DBC8-15D0-F7B9-15D0-A4248E6B38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2325D4-C305-0663-E871-40B804FF2952}"/>
              </a:ext>
            </a:extLst>
          </p:cNvPr>
          <p:cNvSpPr>
            <a:spLocks noGrp="1"/>
          </p:cNvSpPr>
          <p:nvPr>
            <p:ph type="title"/>
          </p:nvPr>
        </p:nvSpPr>
        <p:spPr/>
        <p:txBody>
          <a:bodyPr/>
          <a:lstStyle/>
          <a:p>
            <a:r>
              <a:rPr lang="en-US" dirty="0">
                <a:solidFill>
                  <a:srgbClr val="E7E6E6">
                    <a:lumMod val="25000"/>
                  </a:srgbClr>
                </a:solidFill>
                <a:latin typeface="Segoe UI Light" panose="020B0502040204020203" pitchFamily="34" charset="0"/>
                <a:cs typeface="Segoe UI Light" panose="020B0502040204020203" pitchFamily="34" charset="0"/>
              </a:rPr>
              <a:t>Visualizations</a:t>
            </a:r>
            <a:endParaRPr lang="en-US" dirty="0"/>
          </a:p>
        </p:txBody>
      </p:sp>
      <p:sp>
        <p:nvSpPr>
          <p:cNvPr id="6" name="Content Placeholder 7" descr="PowerPoint allows you to import a variety of popular 3D model formats. &#10;So no matter your workflows outside of PowerPoint, you should be able to find a suitable solution to make your 3D models portable and presentable to virtually anyone, anywhere and on any device (with just a few quick modifications)">
            <a:extLst>
              <a:ext uri="{FF2B5EF4-FFF2-40B4-BE49-F238E27FC236}">
                <a16:creationId xmlns:a16="http://schemas.microsoft.com/office/drawing/2014/main" id="{F11F4FEA-66F7-5381-0D04-AD265C8CC276}"/>
              </a:ext>
            </a:extLst>
          </p:cNvPr>
          <p:cNvSpPr txBox="1">
            <a:spLocks/>
          </p:cNvSpPr>
          <p:nvPr/>
        </p:nvSpPr>
        <p:spPr>
          <a:xfrm>
            <a:off x="533459" y="1485932"/>
            <a:ext cx="6644089" cy="48362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IN" sz="1400" dirty="0"/>
              <a:t>The dashboard also includes multiple visualizations to help users understand trends and patterns in the data.</a:t>
            </a:r>
          </a:p>
          <a:p>
            <a:pPr marL="0" indent="0">
              <a:lnSpc>
                <a:spcPct val="100000"/>
              </a:lnSpc>
              <a:buNone/>
            </a:pPr>
            <a:r>
              <a:rPr lang="en-IN" sz="1400" dirty="0"/>
              <a:t>The visualizations include:</a:t>
            </a:r>
          </a:p>
          <a:p>
            <a:pPr lvl="0">
              <a:lnSpc>
                <a:spcPct val="100000"/>
              </a:lnSpc>
            </a:pPr>
            <a:r>
              <a:rPr lang="en-IN" sz="1400" b="1" dirty="0"/>
              <a:t>Property Listings Map</a:t>
            </a:r>
            <a:r>
              <a:rPr lang="en-IN" sz="1400" dirty="0"/>
              <a:t> – Displays the geographical distribution of properties. </a:t>
            </a:r>
          </a:p>
          <a:p>
            <a:pPr lvl="0">
              <a:lnSpc>
                <a:spcPct val="100000"/>
              </a:lnSpc>
            </a:pPr>
            <a:r>
              <a:rPr lang="en-IN" sz="1400" b="1" dirty="0"/>
              <a:t>Average Price by City (Bar Chart)</a:t>
            </a:r>
            <a:r>
              <a:rPr lang="en-IN" sz="1400" dirty="0"/>
              <a:t> – Compares the average property prices across different cities. </a:t>
            </a:r>
          </a:p>
          <a:p>
            <a:pPr lvl="0">
              <a:lnSpc>
                <a:spcPct val="100000"/>
              </a:lnSpc>
            </a:pPr>
            <a:r>
              <a:rPr lang="en-IN" sz="1400" b="1" dirty="0"/>
              <a:t>Property Type Distribution (Pie Chart)</a:t>
            </a:r>
            <a:r>
              <a:rPr lang="en-IN" sz="1400" dirty="0"/>
              <a:t> – Shows the percentage distribution of different property types. </a:t>
            </a:r>
          </a:p>
          <a:p>
            <a:pPr lvl="0">
              <a:lnSpc>
                <a:spcPct val="100000"/>
              </a:lnSpc>
            </a:pPr>
            <a:r>
              <a:rPr lang="en-IN" sz="1400" b="1" dirty="0"/>
              <a:t>Monthly Sales Trend (Line Chart)</a:t>
            </a:r>
            <a:r>
              <a:rPr lang="en-IN" sz="1400" dirty="0"/>
              <a:t> – Helps </a:t>
            </a:r>
            <a:r>
              <a:rPr lang="en-IN" sz="1400" dirty="0" err="1"/>
              <a:t>analyze</a:t>
            </a:r>
            <a:r>
              <a:rPr lang="en-IN" sz="1400" dirty="0"/>
              <a:t> how property sales change over time. </a:t>
            </a:r>
          </a:p>
          <a:p>
            <a:pPr lvl="0">
              <a:lnSpc>
                <a:spcPct val="100000"/>
              </a:lnSpc>
            </a:pPr>
            <a:r>
              <a:rPr lang="en-IN" sz="1400" b="1" dirty="0"/>
              <a:t>Interactive Data Tables</a:t>
            </a:r>
            <a:r>
              <a:rPr lang="en-IN" sz="1400" dirty="0"/>
              <a:t> – Allow users to view and explore the filtered data in tabular format.</a:t>
            </a:r>
          </a:p>
          <a:p>
            <a:pPr>
              <a:lnSpc>
                <a:spcPct val="100000"/>
              </a:lnSpc>
            </a:pPr>
            <a:endParaRPr lang="en-IN" sz="1400" dirty="0"/>
          </a:p>
        </p:txBody>
      </p:sp>
      <p:pic>
        <p:nvPicPr>
          <p:cNvPr id="9" name="Picture 8">
            <a:extLst>
              <a:ext uri="{FF2B5EF4-FFF2-40B4-BE49-F238E27FC236}">
                <a16:creationId xmlns:a16="http://schemas.microsoft.com/office/drawing/2014/main" id="{D4BE9C9C-DBFD-F822-FC6B-501DD4C3D504}"/>
              </a:ext>
            </a:extLst>
          </p:cNvPr>
          <p:cNvPicPr>
            <a:picLocks noChangeAspect="1"/>
          </p:cNvPicPr>
          <p:nvPr/>
        </p:nvPicPr>
        <p:blipFill>
          <a:blip r:embed="rId2"/>
          <a:stretch>
            <a:fillRect/>
          </a:stretch>
        </p:blipFill>
        <p:spPr>
          <a:xfrm>
            <a:off x="7177548" y="1343875"/>
            <a:ext cx="4532671" cy="4561900"/>
          </a:xfrm>
          <a:prstGeom prst="rect">
            <a:avLst/>
          </a:prstGeom>
        </p:spPr>
      </p:pic>
    </p:spTree>
    <p:extLst>
      <p:ext uri="{BB962C8B-B14F-4D97-AF65-F5344CB8AC3E}">
        <p14:creationId xmlns:p14="http://schemas.microsoft.com/office/powerpoint/2010/main" val="777418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22AE5-A34D-42C0-3C81-253534E8F1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2EF76C-8697-CC6D-2D23-F13B1BE53EE0}"/>
              </a:ext>
            </a:extLst>
          </p:cNvPr>
          <p:cNvSpPr>
            <a:spLocks noGrp="1"/>
          </p:cNvSpPr>
          <p:nvPr>
            <p:ph type="title"/>
          </p:nvPr>
        </p:nvSpPr>
        <p:spPr/>
        <p:txBody>
          <a:bodyPr/>
          <a:lstStyle/>
          <a:p>
            <a:r>
              <a:rPr lang="en-US" dirty="0">
                <a:solidFill>
                  <a:srgbClr val="E7E6E6">
                    <a:lumMod val="25000"/>
                  </a:srgbClr>
                </a:solidFill>
                <a:latin typeface="Segoe UI Light" panose="020B0502040204020203" pitchFamily="34" charset="0"/>
                <a:cs typeface="Segoe UI Light" panose="020B0502040204020203" pitchFamily="34" charset="0"/>
              </a:rPr>
              <a:t>CRUD Operations</a:t>
            </a:r>
            <a:endParaRPr lang="en-US" dirty="0"/>
          </a:p>
        </p:txBody>
      </p:sp>
      <p:sp>
        <p:nvSpPr>
          <p:cNvPr id="6" name="Content Placeholder 7" descr="PowerPoint allows you to import a variety of popular 3D model formats. &#10;So no matter your workflows outside of PowerPoint, you should be able to find a suitable solution to make your 3D models portable and presentable to virtually anyone, anywhere and on any device (with just a few quick modifications)">
            <a:extLst>
              <a:ext uri="{FF2B5EF4-FFF2-40B4-BE49-F238E27FC236}">
                <a16:creationId xmlns:a16="http://schemas.microsoft.com/office/drawing/2014/main" id="{14C9B8D6-1F76-D6C2-AA39-5E9AE04FC909}"/>
              </a:ext>
            </a:extLst>
          </p:cNvPr>
          <p:cNvSpPr txBox="1">
            <a:spLocks/>
          </p:cNvSpPr>
          <p:nvPr/>
        </p:nvSpPr>
        <p:spPr>
          <a:xfrm>
            <a:off x="533459" y="1485932"/>
            <a:ext cx="5316735" cy="48362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IN" sz="1600" dirty="0"/>
              <a:t>One of the key features of the </a:t>
            </a:r>
            <a:r>
              <a:rPr lang="en-IN" sz="1600" dirty="0" err="1"/>
              <a:t>BrickView</a:t>
            </a:r>
            <a:r>
              <a:rPr lang="en-IN" sz="1600" dirty="0"/>
              <a:t> Real Estate Analytics Dashboard is the implementation of </a:t>
            </a:r>
            <a:r>
              <a:rPr lang="en-IN" sz="1600" b="1" dirty="0"/>
              <a:t>CRUD operations</a:t>
            </a:r>
            <a:r>
              <a:rPr lang="en-IN" sz="1600" dirty="0"/>
              <a:t>. </a:t>
            </a:r>
            <a:br>
              <a:rPr lang="en-IN" sz="1600" dirty="0"/>
            </a:br>
            <a:r>
              <a:rPr lang="en-IN" sz="1600" dirty="0"/>
              <a:t>CRUD stands for </a:t>
            </a:r>
            <a:r>
              <a:rPr lang="en-IN" sz="1600" b="1" dirty="0"/>
              <a:t>Create, Read, Update, and Delete</a:t>
            </a:r>
            <a:r>
              <a:rPr lang="en-IN" sz="1600" dirty="0"/>
              <a:t>, which are the fundamental operations used to manage data in any database-driven application.</a:t>
            </a:r>
          </a:p>
          <a:p>
            <a:pPr marL="0" indent="0">
              <a:lnSpc>
                <a:spcPct val="150000"/>
              </a:lnSpc>
              <a:buNone/>
            </a:pPr>
            <a:r>
              <a:rPr lang="en-IN" sz="1600" dirty="0"/>
              <a:t>In this project, I implemented complete CRUD functionality for all the major database tables. This allows users to not only </a:t>
            </a:r>
            <a:r>
              <a:rPr lang="en-IN" sz="1600" dirty="0" err="1"/>
              <a:t>analyze</a:t>
            </a:r>
            <a:r>
              <a:rPr lang="en-IN" sz="1600" dirty="0"/>
              <a:t> data but also maintain and update it through the application interface.</a:t>
            </a:r>
          </a:p>
          <a:p>
            <a:pPr>
              <a:lnSpc>
                <a:spcPct val="150000"/>
              </a:lnSpc>
            </a:pPr>
            <a:endParaRPr lang="en-IN" sz="1600" dirty="0"/>
          </a:p>
        </p:txBody>
      </p:sp>
      <p:pic>
        <p:nvPicPr>
          <p:cNvPr id="4" name="Picture 3">
            <a:extLst>
              <a:ext uri="{FF2B5EF4-FFF2-40B4-BE49-F238E27FC236}">
                <a16:creationId xmlns:a16="http://schemas.microsoft.com/office/drawing/2014/main" id="{547EE933-640D-FD9B-4904-0D4F10E07E8B}"/>
              </a:ext>
            </a:extLst>
          </p:cNvPr>
          <p:cNvPicPr>
            <a:picLocks noChangeAspect="1"/>
          </p:cNvPicPr>
          <p:nvPr/>
        </p:nvPicPr>
        <p:blipFill>
          <a:blip r:embed="rId2"/>
          <a:stretch>
            <a:fillRect/>
          </a:stretch>
        </p:blipFill>
        <p:spPr>
          <a:xfrm>
            <a:off x="5850194" y="1790740"/>
            <a:ext cx="5737372" cy="2850094"/>
          </a:xfrm>
          <a:prstGeom prst="rect">
            <a:avLst/>
          </a:prstGeom>
        </p:spPr>
      </p:pic>
    </p:spTree>
    <p:extLst>
      <p:ext uri="{BB962C8B-B14F-4D97-AF65-F5344CB8AC3E}">
        <p14:creationId xmlns:p14="http://schemas.microsoft.com/office/powerpoint/2010/main" val="3787083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D163F-8E65-CBEC-AED8-C137F4D6AE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717D77-A1AF-3800-5B79-57C9AC03036F}"/>
              </a:ext>
            </a:extLst>
          </p:cNvPr>
          <p:cNvSpPr>
            <a:spLocks noGrp="1"/>
          </p:cNvSpPr>
          <p:nvPr>
            <p:ph type="title"/>
          </p:nvPr>
        </p:nvSpPr>
        <p:spPr/>
        <p:txBody>
          <a:bodyPr/>
          <a:lstStyle/>
          <a:p>
            <a:r>
              <a:rPr lang="en-US" dirty="0">
                <a:solidFill>
                  <a:srgbClr val="E7E6E6">
                    <a:lumMod val="25000"/>
                  </a:srgbClr>
                </a:solidFill>
                <a:latin typeface="Segoe UI Light" panose="020B0502040204020203" pitchFamily="34" charset="0"/>
                <a:cs typeface="Segoe UI Light" panose="020B0502040204020203" pitchFamily="34" charset="0"/>
              </a:rPr>
              <a:t>SQL Analytics</a:t>
            </a:r>
            <a:endParaRPr lang="en-US" dirty="0"/>
          </a:p>
        </p:txBody>
      </p:sp>
      <p:sp>
        <p:nvSpPr>
          <p:cNvPr id="6" name="Content Placeholder 7" descr="PowerPoint allows you to import a variety of popular 3D model formats. &#10;So no matter your workflows outside of PowerPoint, you should be able to find a suitable solution to make your 3D models portable and presentable to virtually anyone, anywhere and on any device (with just a few quick modifications)">
            <a:extLst>
              <a:ext uri="{FF2B5EF4-FFF2-40B4-BE49-F238E27FC236}">
                <a16:creationId xmlns:a16="http://schemas.microsoft.com/office/drawing/2014/main" id="{D365ACD8-46ED-3E6A-CB8A-49E8B3BC0A61}"/>
              </a:ext>
            </a:extLst>
          </p:cNvPr>
          <p:cNvSpPr txBox="1">
            <a:spLocks/>
          </p:cNvSpPr>
          <p:nvPr/>
        </p:nvSpPr>
        <p:spPr>
          <a:xfrm>
            <a:off x="533459" y="1485932"/>
            <a:ext cx="5926335" cy="50721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IN" sz="1600" dirty="0"/>
              <a:t>One of the core features of the </a:t>
            </a:r>
            <a:r>
              <a:rPr lang="en-IN" sz="1600" dirty="0" err="1"/>
              <a:t>BrickView</a:t>
            </a:r>
            <a:r>
              <a:rPr lang="en-IN" sz="1600" dirty="0"/>
              <a:t> Real Estate Analytics Dashboard is the </a:t>
            </a:r>
            <a:r>
              <a:rPr lang="en-IN" sz="1600" b="1" dirty="0"/>
              <a:t>SQL Analytics module</a:t>
            </a:r>
            <a:r>
              <a:rPr lang="en-IN" sz="1600" dirty="0"/>
              <a:t>.</a:t>
            </a:r>
          </a:p>
          <a:p>
            <a:pPr marL="0" indent="0">
              <a:lnSpc>
                <a:spcPct val="150000"/>
              </a:lnSpc>
              <a:buNone/>
            </a:pPr>
            <a:r>
              <a:rPr lang="en-IN" sz="1600" dirty="0"/>
              <a:t>The purpose of this module is to extract meaningful business insights from the real estate database by executing SQL queries. Instead of displaying raw data, SQL helps transform the data into actionable information that supports business decision-making.</a:t>
            </a:r>
          </a:p>
          <a:p>
            <a:pPr marL="0" indent="0">
              <a:lnSpc>
                <a:spcPct val="150000"/>
              </a:lnSpc>
              <a:buNone/>
            </a:pPr>
            <a:r>
              <a:rPr lang="en-IN" sz="1600" dirty="0"/>
              <a:t>In this project, I implemented </a:t>
            </a:r>
            <a:r>
              <a:rPr lang="en-IN" sz="1600" b="1" dirty="0"/>
              <a:t>30 business-oriented SQL queries</a:t>
            </a:r>
            <a:r>
              <a:rPr lang="en-IN" sz="1600" dirty="0"/>
              <a:t> covering different aspects of the real estate business, such as sales, revenue, buyer behaviour, agent performance, and property analysis. The query results are displayed in an interactive table, allowing users to explore and interpret the data easily.</a:t>
            </a:r>
          </a:p>
          <a:p>
            <a:pPr>
              <a:lnSpc>
                <a:spcPct val="150000"/>
              </a:lnSpc>
            </a:pPr>
            <a:endParaRPr lang="en-IN" sz="1600" dirty="0"/>
          </a:p>
        </p:txBody>
      </p:sp>
      <p:pic>
        <p:nvPicPr>
          <p:cNvPr id="4" name="Picture 3">
            <a:extLst>
              <a:ext uri="{FF2B5EF4-FFF2-40B4-BE49-F238E27FC236}">
                <a16:creationId xmlns:a16="http://schemas.microsoft.com/office/drawing/2014/main" id="{AF226B9A-095D-0237-5DEE-5077BCBBC4D9}"/>
              </a:ext>
            </a:extLst>
          </p:cNvPr>
          <p:cNvPicPr>
            <a:picLocks noChangeAspect="1"/>
          </p:cNvPicPr>
          <p:nvPr/>
        </p:nvPicPr>
        <p:blipFill>
          <a:blip r:embed="rId2"/>
          <a:stretch>
            <a:fillRect/>
          </a:stretch>
        </p:blipFill>
        <p:spPr>
          <a:xfrm>
            <a:off x="6459794" y="2104101"/>
            <a:ext cx="5466735" cy="3274143"/>
          </a:xfrm>
          <a:prstGeom prst="rect">
            <a:avLst/>
          </a:prstGeom>
        </p:spPr>
      </p:pic>
    </p:spTree>
    <p:extLst>
      <p:ext uri="{BB962C8B-B14F-4D97-AF65-F5344CB8AC3E}">
        <p14:creationId xmlns:p14="http://schemas.microsoft.com/office/powerpoint/2010/main" val="95795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F5316-FE18-2926-D1C8-84FF94090E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2B8E32-6F75-BD4D-8C35-B3FD4ECBB008}"/>
              </a:ext>
            </a:extLst>
          </p:cNvPr>
          <p:cNvSpPr>
            <a:spLocks noGrp="1"/>
          </p:cNvSpPr>
          <p:nvPr>
            <p:ph type="title"/>
          </p:nvPr>
        </p:nvSpPr>
        <p:spPr/>
        <p:txBody>
          <a:bodyPr/>
          <a:lstStyle/>
          <a:p>
            <a:r>
              <a:rPr lang="en-US" dirty="0">
                <a:solidFill>
                  <a:srgbClr val="E7E6E6">
                    <a:lumMod val="25000"/>
                  </a:srgbClr>
                </a:solidFill>
                <a:latin typeface="Segoe UI Light" panose="020B0502040204020203" pitchFamily="34" charset="0"/>
                <a:cs typeface="Segoe UI Light" panose="020B0502040204020203" pitchFamily="34" charset="0"/>
              </a:rPr>
              <a:t>Conclusion</a:t>
            </a:r>
            <a:endParaRPr lang="en-US" dirty="0"/>
          </a:p>
        </p:txBody>
      </p:sp>
      <p:sp>
        <p:nvSpPr>
          <p:cNvPr id="6" name="Content Placeholder 7" descr="PowerPoint allows you to import a variety of popular 3D model formats. &#10;So no matter your workflows outside of PowerPoint, you should be able to find a suitable solution to make your 3D models portable and presentable to virtually anyone, anywhere and on any device (with just a few quick modifications)">
            <a:extLst>
              <a:ext uri="{FF2B5EF4-FFF2-40B4-BE49-F238E27FC236}">
                <a16:creationId xmlns:a16="http://schemas.microsoft.com/office/drawing/2014/main" id="{8306AB21-8AFB-734A-94E7-BE8B4061EFCA}"/>
              </a:ext>
            </a:extLst>
          </p:cNvPr>
          <p:cNvSpPr txBox="1">
            <a:spLocks/>
          </p:cNvSpPr>
          <p:nvPr/>
        </p:nvSpPr>
        <p:spPr>
          <a:xfrm>
            <a:off x="533459" y="1485932"/>
            <a:ext cx="11054107" cy="48362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IN" sz="1600" dirty="0"/>
              <a:t>To conclude, </a:t>
            </a:r>
            <a:r>
              <a:rPr lang="en-IN" sz="1600" dirty="0" err="1"/>
              <a:t>BrickView</a:t>
            </a:r>
            <a:r>
              <a:rPr lang="en-IN" sz="1600" dirty="0"/>
              <a:t> is a Real Estate Analytics Dashboard that combines </a:t>
            </a:r>
            <a:r>
              <a:rPr lang="en-IN" sz="1600" b="1" dirty="0"/>
              <a:t>Python, Pandas, SQLite, SQL, </a:t>
            </a:r>
            <a:r>
              <a:rPr lang="en-IN" sz="1600" b="1" dirty="0" err="1"/>
              <a:t>Streamlit</a:t>
            </a:r>
            <a:r>
              <a:rPr lang="en-IN" sz="1600" b="1" dirty="0"/>
              <a:t>,</a:t>
            </a:r>
            <a:r>
              <a:rPr lang="en-IN" sz="1600" dirty="0"/>
              <a:t> and </a:t>
            </a:r>
            <a:r>
              <a:rPr lang="en-IN" sz="1600" b="1" dirty="0"/>
              <a:t>Matplotlib</a:t>
            </a:r>
            <a:r>
              <a:rPr lang="en-IN" sz="1600" dirty="0"/>
              <a:t> to provide meaningful business insights through interactive dashboards, visualizations, and analytics.</a:t>
            </a:r>
          </a:p>
          <a:p>
            <a:pPr marL="0" indent="0">
              <a:lnSpc>
                <a:spcPct val="150000"/>
              </a:lnSpc>
              <a:buNone/>
            </a:pPr>
            <a:r>
              <a:rPr lang="en-IN" sz="1600" dirty="0"/>
              <a:t>This project helped me strengthen my skills in data analysis, dashboard development, SQL, and modular Python programming.</a:t>
            </a:r>
          </a:p>
          <a:p>
            <a:pPr marL="0" indent="0">
              <a:lnSpc>
                <a:spcPct val="150000"/>
              </a:lnSpc>
              <a:buNone/>
            </a:pPr>
            <a:endParaRPr lang="en-IN" sz="1600" dirty="0"/>
          </a:p>
          <a:p>
            <a:pPr>
              <a:lnSpc>
                <a:spcPct val="150000"/>
              </a:lnSpc>
            </a:pPr>
            <a:endParaRPr lang="en-IN" sz="1600" dirty="0"/>
          </a:p>
        </p:txBody>
      </p:sp>
    </p:spTree>
    <p:extLst>
      <p:ext uri="{BB962C8B-B14F-4D97-AF65-F5344CB8AC3E}">
        <p14:creationId xmlns:p14="http://schemas.microsoft.com/office/powerpoint/2010/main" val="804991671"/>
      </p:ext>
    </p:extLst>
  </p:cSld>
  <p:clrMapOvr>
    <a:masterClrMapping/>
  </p:clrMapOvr>
</p:sld>
</file>

<file path=ppt/theme/theme1.xml><?xml version="1.0" encoding="utf-8"?>
<a:theme xmlns:a="http://schemas.openxmlformats.org/drawingml/2006/main" name="Get Started with 3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tf16411177_win32_fixed.potx" id="{2BE36628-40A7-4124-9B03-283680FDB08B}" vid="{1F788C18-5B90-4886-BC26-C8416480C9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{85FD1258-D703-43FB-A59B-A343B25DE305}TF1b6f9bfa-769c-4e44-b3db-2615999da08e4eb5ee7a_win32-a6c35a7f46f2</Template>
  <TotalTime>261</TotalTime>
  <Words>929</Words>
  <Application>Microsoft Office PowerPoint</Application>
  <PresentationFormat>Widescreen</PresentationFormat>
  <Paragraphs>90</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Segoe UI</vt:lpstr>
      <vt:lpstr>Segoe UI Light</vt:lpstr>
      <vt:lpstr>Get Started with 3D</vt:lpstr>
      <vt:lpstr>BrickView  Real Estate Analytics Platform</vt:lpstr>
      <vt:lpstr>Self Introduction</vt:lpstr>
      <vt:lpstr>Problem Statement</vt:lpstr>
      <vt:lpstr>Project Objectives</vt:lpstr>
      <vt:lpstr>Technical Stack</vt:lpstr>
      <vt:lpstr>Project Structure</vt:lpstr>
      <vt:lpstr>Database</vt:lpstr>
      <vt:lpstr>Dashboard</vt:lpstr>
      <vt:lpstr>Filters &amp; Explorer</vt:lpstr>
      <vt:lpstr>Visualizations</vt:lpstr>
      <vt:lpstr>CRUD Operations</vt:lpstr>
      <vt:lpstr>SQL Analytics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Shaik Rabbani</dc:creator>
  <cp:lastModifiedBy>Shaik Rabbani</cp:lastModifiedBy>
  <cp:revision>69</cp:revision>
  <dcterms:created xsi:type="dcterms:W3CDTF">2026-07-29T12:38:36Z</dcterms:created>
  <dcterms:modified xsi:type="dcterms:W3CDTF">2026-08-04T01:18:20Z</dcterms:modified>
</cp:coreProperties>
</file>